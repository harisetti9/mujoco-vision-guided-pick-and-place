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project asks how a robot can turn camera pixels into a physical action. In this MuJoCo demonstration, I choose a box color, inspect the image-processing stages, select an instance when two boxes share the color, and then let a Panda arm pick it into a tray. The target position and angle come from the rendered camera image. Simulator object coordinates are used later only to measure errors. The Panda robot model and workshop DLS components are reused with attribution. The camera calibration, vision pipeline, controls, tests and integration are the new project work. The results shown here come from completed simulation runs.</a:t>
            </a:r>
          </a:p>
          <a:p>
            <a:endParaRPr/>
          </a:p>
          <a:p>
            <a:r>
              <a:t>Likely professor questions</a:t>
            </a:r>
          </a:p>
          <a:p>
            <a:r>
              <a:t>Q: Is this a real robot?</a:t>
            </a:r>
          </a:p>
          <a:p>
            <a:r>
              <a:t>A: No. It is a physics simulation with rendered camera images and a contact-based grasp.</a:t>
            </a:r>
          </a:p>
          <a:p>
            <a:endParaRPr/>
          </a:p>
          <a:p>
            <a:r>
              <a:t>Q: Did you create the Panda model?</a:t>
            </a:r>
          </a:p>
          <a:p>
            <a:r>
              <a:t>A: No. The Panda model and workshop utilities are reused under their supplied licenses.</a:t>
            </a:r>
          </a:p>
          <a:p>
            <a:endParaRPr/>
          </a:p>
          <a:p>
            <a:r>
              <a:t>Q: Does the robot already know the target position?</a:t>
            </a:r>
          </a:p>
          <a:p>
            <a:r>
              <a:t>A: The movement target is estimated from the camera image, not read from object coordinates.</a:t>
            </a:r>
          </a:p>
          <a:p>
            <a:endParaRPr/>
          </a:p>
          <a:p>
            <a:r>
              <a:t>Evidence: project/outputs/results.csv, summary.json, coordinate_log.json and actual MuJoCo captures.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pipeline has two connected parts. First, digital image processing prepares the camera image: optional simulated noise, median filtering, HSV color thresholding and morphological cleanup. Next, perception interprets the cleaned pixels as a rectangular object, estimates its centre and long-edge angle, and maps these to world coordinates. A validity and reachability gate must pass before motion begins. Inverse kinematics finds joint values for the desired hand poses, and the position servos execute those joint commands. Planning chooses the approach and transfer sequence. The dashboard pauses between these stages so each result can be explained before the robot moves.</a:t>
            </a:r>
          </a:p>
          <a:p>
            <a:endParaRPr/>
          </a:p>
          <a:p>
            <a:r>
              <a:t>Likely professor questions</a:t>
            </a:r>
          </a:p>
          <a:p>
            <a:r>
              <a:t>Q: Where does DIP end?</a:t>
            </a:r>
          </a:p>
          <a:p>
            <a:r>
              <a:t>A: Filtering and mask operations are DIP; object interpretation and pose estimation are perception. The practical boundary overlaps.</a:t>
            </a:r>
          </a:p>
          <a:p>
            <a:endParaRPr/>
          </a:p>
          <a:p>
            <a:r>
              <a:t>Q: Are segmentation and detection the same?</a:t>
            </a:r>
          </a:p>
          <a:p>
            <a:r>
              <a:t>A: Segmentation labels pixels; detection groups and validates an object region.</a:t>
            </a:r>
          </a:p>
          <a:p>
            <a:endParaRPr/>
          </a:p>
          <a:p>
            <a:r>
              <a:t>Q: Does IK identify the box?</a:t>
            </a:r>
          </a:p>
          <a:p>
            <a:r>
              <a:t>A: No. IK receives a desired hand pose after perception.</a:t>
            </a:r>
          </a:p>
          <a:p>
            <a:endParaRPr/>
          </a:p>
          <a:p>
            <a:r>
              <a:t>Evidence: project/outputs/results.csv, summary.json, coordinate_log.json and actual MuJoCo captures.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scene contains a Panda arm, a flat table, a tray and four elongated boxes: red, green and two blue instances. The fixed overhead camera renders a 640 by 480 RGB frame. The observation pose keeps the boxes visible before capture. One matching color region is selected automatically, while two blue regions require a click in the camera preview. Box setup uses metre and degree controls within a conservative workspace. Each requested placement also needs joint-limited IK and sampled table-clearance checks. The validated area is smaller than the robot's theoretical workspace, and the demonstration does not claim universal collision-free reachability.</a:t>
            </a:r>
          </a:p>
          <a:p>
            <a:endParaRPr/>
          </a:p>
          <a:p>
            <a:r>
              <a:t>Likely professor questions</a:t>
            </a:r>
          </a:p>
          <a:p>
            <a:r>
              <a:t>Q: Why an overhead camera?</a:t>
            </a:r>
          </a:p>
          <a:p>
            <a:r>
              <a:t>A: It makes flat-plane localization clear and reduces perspective complications.</a:t>
            </a:r>
          </a:p>
          <a:p>
            <a:endParaRPr/>
          </a:p>
          <a:p>
            <a:r>
              <a:t>Q: What if two boxes have the same color?</a:t>
            </a:r>
          </a:p>
          <a:p>
            <a:r>
              <a:t>A: The dashboard pauses until the user clicks one detected instance.</a:t>
            </a:r>
          </a:p>
          <a:p>
            <a:endParaRPr/>
          </a:p>
          <a:p>
            <a:r>
              <a:t>Q: Can a box be placed anywhere?</a:t>
            </a:r>
          </a:p>
          <a:p>
            <a:r>
              <a:t>A: No. Bounds, separation, IK and sampled clearance checks must accept the pose.</a:t>
            </a:r>
          </a:p>
          <a:p>
            <a:endParaRPr/>
          </a:p>
          <a:p>
            <a:r>
              <a:t>Evidence: project/outputs/results.csv, summary.json, coordinate_log.json and actual MuJoCo captures.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MuJoCo's RGB image is usually clean, so the noise shown here is deliberately simulated. A fixed random seed changes selected pixels to black or white, creating salt-and-pepper noise. The displayed example corrupts eight percent of pixels. A three by three median filter sorts each channel's local values and chooses the middle value, so an isolated extreme value usually does not dominate the result. The filter runs before segmentation. It greatly reduced the measured image difference in this example, but can soften small details and does not remove every kind of noise. The other boxes are distractor objects, not image noise.</a:t>
            </a:r>
          </a:p>
          <a:p>
            <a:endParaRPr/>
          </a:p>
          <a:p>
            <a:r>
              <a:t>Likely professor questions</a:t>
            </a:r>
          </a:p>
          <a:p>
            <a:r>
              <a:t>Q: Why use a median rather than a mean?</a:t>
            </a:r>
          </a:p>
          <a:p>
            <a:r>
              <a:t>A: The median is less affected by isolated black or white outliers.</a:t>
            </a:r>
          </a:p>
          <a:p>
            <a:endParaRPr/>
          </a:p>
          <a:p>
            <a:r>
              <a:t>Q: Does it remove all noise?</a:t>
            </a:r>
          </a:p>
          <a:p>
            <a:r>
              <a:t>A: No. It targets impulse noise here and can also change edges.</a:t>
            </a:r>
          </a:p>
          <a:p>
            <a:endParaRPr/>
          </a:p>
          <a:p>
            <a:r>
              <a:t>Q: Are the other boxes noise?</a:t>
            </a:r>
          </a:p>
          <a:p>
            <a:r>
              <a:t>A: No. They are scene objects; color segmentation separates the chosen color.</a:t>
            </a:r>
          </a:p>
          <a:p>
            <a:endParaRPr/>
          </a:p>
          <a:p>
            <a:r>
              <a:t>Evidence: project/outputs/results.csv, summary.json, coordinate_log.json and actual MuJoCo captures.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filtered RGB image is converted to HSV: hue describes color, saturation describes its strength, and value describes brightness. Threshold ranges produce a binary mask. Matching pixels are white and everything else is black. Red uses two hue ranges because hue wraps around the scale. A three by three opening applies erosion followed by dilation to remove small isolated foreground regions. Closing reverses that order to fill small gaps. The median filter already removes most impulse specks in these rendered frames, so the extra change may be small. Morphology improves the mask but does not by itself decide which region is a valid box.</a:t>
            </a:r>
          </a:p>
          <a:p>
            <a:endParaRPr/>
          </a:p>
          <a:p>
            <a:r>
              <a:t>Likely professor questions</a:t>
            </a:r>
          </a:p>
          <a:p>
            <a:r>
              <a:t>Q: Why HSV instead of RGB?</a:t>
            </a:r>
          </a:p>
          <a:p>
            <a:r>
              <a:t>A: Hue is easier to threshold across some brightness changes, although HSV is not illumination-invariant.</a:t>
            </a:r>
          </a:p>
          <a:p>
            <a:endParaRPr/>
          </a:p>
          <a:p>
            <a:r>
              <a:t>Q: What is opening?</a:t>
            </a:r>
          </a:p>
          <a:p>
            <a:r>
              <a:t>A: Erosion followed by dilation with the same small structuring element.</a:t>
            </a:r>
          </a:p>
          <a:p>
            <a:endParaRPr/>
          </a:p>
          <a:p>
            <a:r>
              <a:t>Q: Why are two red ranges needed?</a:t>
            </a:r>
          </a:p>
          <a:p>
            <a:r>
              <a:t>A: Red lies near both ends of OpenCV's hue scale, which runs from zero to 179.</a:t>
            </a:r>
          </a:p>
          <a:p>
            <a:endParaRPr/>
          </a:p>
          <a:p>
            <a:r>
              <a:t>Evidence: project/outputs/results.csv, summary.json, coordinate_log.json and actual MuJoCo captures.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Contours group the white pixels into candidate regions. The program rejects regions with implausible area, side length, aspect ratio or rectangular fill. OpenCV minAreaRect fits a rotated rectangle to each accepted outline. Its centre is the image location, and the longest edge supplies an orientation cue. The fill ratio is a shape-validity measure, not a probability of correctness. An elongated box has a clear long edge; a square would have ambiguous yaw. The image angle is not sent directly to the robot. Both edge endpoints are converted through camera calibration to obtain a world direction, and world yaw is normalized modulo 180 degrees.</a:t>
            </a:r>
          </a:p>
          <a:p>
            <a:endParaRPr/>
          </a:p>
          <a:p>
            <a:r>
              <a:t>Likely professor questions</a:t>
            </a:r>
          </a:p>
          <a:p>
            <a:r>
              <a:t>Q: Can color tell you the angle?</a:t>
            </a:r>
          </a:p>
          <a:p>
            <a:r>
              <a:t>A: No. The rectangular outline gives orientation; color only selects pixels.</a:t>
            </a:r>
          </a:p>
          <a:p>
            <a:endParaRPr/>
          </a:p>
          <a:p>
            <a:r>
              <a:t>Q: Why not use a square?</a:t>
            </a:r>
          </a:p>
          <a:p>
            <a:r>
              <a:t>A: A square lacks a unique long edge and has extra rotational ambiguity.</a:t>
            </a:r>
          </a:p>
          <a:p>
            <a:endParaRPr/>
          </a:p>
          <a:p>
            <a:r>
              <a:t>Q: Is the validity score a confidence probability?</a:t>
            </a:r>
          </a:p>
          <a:p>
            <a:r>
              <a:t>A: No. It is the contour area divided by fitted rectangle area.</a:t>
            </a:r>
          </a:p>
          <a:p>
            <a:endParaRPr/>
          </a:p>
          <a:p>
            <a:r>
              <a:t>Evidence: project/outputs/results.csv, summary.json, coordinate_log.json and actual MuJoCo captures.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pixel is a viewing direction, not a distance in metres. The camera's field of view and image size give the focal length, while its position and rotation define the ray in world coordinates. The program intersects that ray with the known box-top plane at z equal to 0.27 metres. It then subtracts half the box height to report the box centre. Using the tabletop plane would give the wrong geometry. Mapping the longest-edge endpoints gives the world yaw. Calibration matters because any camera or height error changes the target estimate. These results assume a fixed overhead camera, a flat table and uniform box height.</a:t>
            </a:r>
          </a:p>
          <a:p>
            <a:endParaRPr/>
          </a:p>
          <a:p>
            <a:r>
              <a:t>Likely professor questions</a:t>
            </a:r>
          </a:p>
          <a:p>
            <a:r>
              <a:t>Q: Why use the box top rather than the table?</a:t>
            </a:r>
          </a:p>
          <a:p>
            <a:r>
              <a:t>A: The colored pixels lie on the object, whose top is four centimetres above the table.</a:t>
            </a:r>
          </a:p>
          <a:p>
            <a:endParaRPr/>
          </a:p>
          <a:p>
            <a:r>
              <a:t>Q: What if the camera tilts?</a:t>
            </a:r>
          </a:p>
          <a:p>
            <a:r>
              <a:t>A: Use its correct rotation and ray-plane geometry, or depth; do not assume the overhead mapping still holds.</a:t>
            </a:r>
          </a:p>
          <a:p>
            <a:endParaRPr/>
          </a:p>
          <a:p>
            <a:r>
              <a:t>Q: How is error measured?</a:t>
            </a:r>
          </a:p>
          <a:p>
            <a:r>
              <a:t>A: Only after detection, compare the image estimate with independent simulator ground truth.</a:t>
            </a:r>
          </a:p>
          <a:p>
            <a:endParaRPr/>
          </a:p>
          <a:p>
            <a:r>
              <a:t>Evidence: project/outputs/results.csv, summary.json, coordinate_log.json and actual MuJoCo captures.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selected image estimate defines a box centre and yaw. The planner builds hand waypoints above the box, down to grasp height, up for lifting, over the tray and down to release. Damped least-squares IK uses a Jacobian to find bounded joint targets for each pose. All waypoints are checked before starting. The arm's position servos then follow smoothly interpolated joint commands, while the gripper opens and closes through its tendon actuator. The actual box is transported by finger contact, friction and gravity. There is no box teleport or object weld. A final retreat and return clear the camera for the next demonstration.</a:t>
            </a:r>
          </a:p>
          <a:p>
            <a:endParaRPr/>
          </a:p>
          <a:p>
            <a:r>
              <a:t>Likely professor questions</a:t>
            </a:r>
          </a:p>
          <a:p>
            <a:r>
              <a:t>Q: What does damping do in IK?</a:t>
            </a:r>
          </a:p>
          <a:p>
            <a:r>
              <a:t>A: It limits large joint changes near poorly conditioned configurations, at the cost of exact tracking.</a:t>
            </a:r>
          </a:p>
          <a:p>
            <a:endParaRPr/>
          </a:p>
          <a:p>
            <a:r>
              <a:t>Q: What does the controller do?</a:t>
            </a:r>
          </a:p>
          <a:p>
            <a:r>
              <a:t>A: It applies torques so the joints follow position commands through physics.</a:t>
            </a:r>
          </a:p>
          <a:p>
            <a:endParaRPr/>
          </a:p>
          <a:p>
            <a:r>
              <a:t>Q: Is the grasp attached by a constraint?</a:t>
            </a:r>
          </a:p>
          <a:p>
            <a:r>
              <a:t>A: No object attachment is used. The existing finger-coupling constraint only synchronizes the fingers.</a:t>
            </a:r>
          </a:p>
          <a:p>
            <a:endParaRPr/>
          </a:p>
          <a:p>
            <a:r>
              <a:t>Evidence: project/outputs/results.csv, summary.json, coordinate_log.json and actual MuJoCo captures.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general idea appears in industrial robot systems: a camera measures the scene, perception identifies useful objects or workpiece locations, and a robot acts on those estimates. ABB documents vision-guided workpiece handling, picking and packing, and warehouse item picking as real examples. These applications should be separated from this classroom implementation. Commercial systems may use three-dimensional sensors, learned perception, suction tools, moving conveyors and more advanced planning. Our project uses simple HSV ranges, a known object plane, rectangular boxes and a simulated two-finger gripper. It demonstrates the reasoning chain clearly, rather than reproducing an industrial product's capabilities.</a:t>
            </a:r>
          </a:p>
          <a:p>
            <a:endParaRPr/>
          </a:p>
          <a:p>
            <a:r>
              <a:t>Likely professor questions</a:t>
            </a:r>
          </a:p>
          <a:p>
            <a:r>
              <a:t>Q: Could this directly run a warehouse?</a:t>
            </a:r>
          </a:p>
          <a:p>
            <a:r>
              <a:t>A: No. Real systems need stronger perception, calibration, planning and hardware validation.</a:t>
            </a:r>
          </a:p>
          <a:p>
            <a:endParaRPr/>
          </a:p>
          <a:p>
            <a:r>
              <a:t>Q: Why not use YOLO?</a:t>
            </a:r>
          </a:p>
          <a:p>
            <a:r>
              <a:t>A: The color-and-shape method solves this controlled teaching task and is easier to explain.</a:t>
            </a:r>
          </a:p>
          <a:p>
            <a:endParaRPr/>
          </a:p>
          <a:p>
            <a:r>
              <a:t>Q: What would improve it next?</a:t>
            </a:r>
          </a:p>
          <a:p>
            <a:r>
              <a:t>A: Depth for variable heights, occlusion handling and fuller collision-aware planning.</a:t>
            </a:r>
          </a:p>
          <a:p>
            <a:endParaRPr/>
          </a:p>
          <a:p>
            <a:r>
              <a:t>Evidence: project/outputs/results.csv, summary.json, coordinate_log.json and actual MuJoCo captures.</a:t>
            </a:r>
          </a:p>
          <a:p>
            <a:r>
              <a:t>https://new.abb.com/products/robotics/application-equipment-and-accessories/vision-systems</a:t>
            </a:r>
          </a:p>
          <a:p>
            <a:r>
              <a:t>https://www.abb.com/global/en/areas/robotics/solutions/functional-modules/item-picking-family/robotic-item-picker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completed test set used ten physical pick-and-place runs across blue, red and green targets, several positions and yaw angles, and zero, three and eight percent simulated noise. It also tested the second blue instance. Every selected object lifted, was released inside the tray and left the fingers open. Three negative checks correctly refused a missing target, an outside-workspace target and an unreachable IK pose. Position and angle errors are calculated only after image detection. The initial failed blue-threshold run is preserved, and these reported numbers come from the corrected run. Limits include fixed heights, controlled lighting, occlusion and sampled rather than exhaustive path checking.</a:t>
            </a:r>
          </a:p>
          <a:p>
            <a:endParaRPr/>
          </a:p>
          <a:p>
            <a:r>
              <a:t>Likely professor questions</a:t>
            </a:r>
          </a:p>
          <a:p>
            <a:r>
              <a:t>Q: Does ten out of ten prove perfect reliability?</a:t>
            </a:r>
          </a:p>
          <a:p>
            <a:r>
              <a:t>A: No. It reports only this finite completed test set.</a:t>
            </a:r>
          </a:p>
          <a:p>
            <a:endParaRPr/>
          </a:p>
          <a:p>
            <a:r>
              <a:t>Q: What happened when no target was found?</a:t>
            </a:r>
          </a:p>
          <a:p>
            <a:r>
              <a:t>A: The program displayed rejection and left the robot pose and controls unchanged.</a:t>
            </a:r>
          </a:p>
          <a:p>
            <a:endParaRPr/>
          </a:p>
          <a:p>
            <a:r>
              <a:t>Q: What is the main conclusion?</a:t>
            </a:r>
          </a:p>
          <a:p>
            <a:r>
              <a:t>A: Calibrated image processing can supply usable target estimates for a physical simulated grasp.</a:t>
            </a:r>
          </a:p>
          <a:p>
            <a:endParaRPr/>
          </a:p>
          <a:p>
            <a:r>
              <a:t>Evidence: project/outputs/results.csv, summary.json, coordinate_log.json and actual MuJoCo captures.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that we have seen the image-processing pipeline and measured results, let us watch the completed MuJoCo simulation. This embedded video is a recording of the tested run, not a live simulation. Click the video to play. Point to the camera view, simulated noise, filtered image, mask and detection overlay, then follow the physical approach, grasp, lift, transfer and release. If the live MuJoCo window fails or runs too slowly, use this embedded recording and explain the same steps. Advance to the thank-you slide after the recording.</a:t>
            </a:r>
          </a:p>
          <a:p>
            <a:endParaRPr/>
          </a:p>
          <a:p>
            <a:r>
              <a:t>Likely professor questions</a:t>
            </a:r>
          </a:p>
          <a:p>
            <a:r>
              <a:t>Q: Is this video live?</a:t>
            </a:r>
          </a:p>
          <a:p>
            <a:r>
              <a:t>A: No. It records the completed MuJoCo simulation.</a:t>
            </a:r>
          </a:p>
          <a:p>
            <a:r>
              <a:t>Q: Does the recording change the reported results?</a:t>
            </a:r>
          </a:p>
          <a:p>
            <a:r>
              <a:t>A: No. The measured results remain those of the completed test set.</a:t>
            </a:r>
          </a:p>
          <a:p>
            <a:r>
              <a:t>Q: Is the video linked to a separate file?</a:t>
            </a:r>
          </a:p>
          <a:p>
            <a:r>
              <a:t>A: The MP4 is embedded in this PowerPoint.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Feel free to ask questions. Keep this slide visible during discussion. Refer back to the pipeline, calibration and measured-results slides when answering technical questions.</a:t>
            </a:r>
          </a:p>
          <a:p>
            <a:endParaRPr/>
          </a:p>
          <a:p>
            <a:r>
              <a:t>Likely professor questions</a:t>
            </a:r>
          </a:p>
          <a:p>
            <a:r>
              <a:t>Q: What is the main result?</a:t>
            </a:r>
          </a:p>
          <a:p>
            <a:r>
              <a:t>A: The robot uses the detected camera estimate to command a physical simulated pick and place.</a:t>
            </a:r>
          </a:p>
          <a:p>
            <a:r>
              <a:t>Q: What are the main limits?</a:t>
            </a:r>
          </a:p>
          <a:p>
            <a:r>
              <a:t>A: Fixed box height, controlled lighting, occlusion and sampled path checks.</a:t>
            </a:r>
          </a:p>
          <a:p>
            <a:r>
              <a:t>Q: Where can we see the measured evidence?</a:t>
            </a:r>
          </a:p>
          <a:p>
            <a:r>
              <a:t>A: Slide 10 retains the completed test-set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C6B36D9-6172-4CB2-945A-679DD19C6B5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B0F10C56-F97A-4AC7-9D62-75C44967B01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BAB54D4-4347-4E62-B902-3B76CA6DAF4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F12A6C6-4075-4F4E-8A59-EB870588EC6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84EB534D-6958-47B8-808A-E6984B148BB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6C916F6-9EBA-46D7-A6B7-24F74CE25F4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B7A3F671-5594-46EA-893B-97E0053064D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36891449-CE3B-42D0-88A2-068E865A56C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F8B3C50-4A0B-4ADF-8FCE-5E668EEFE5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B2389ABC-04D4-4DA4-99F3-9C030381739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A803B6A-D87A-4A8A-BEFB-8E6402DFE3D9}"/>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defRPr sz="3000" b="1">
                <a:solidFill>
                  <a:srgbClr val="172D45"/>
                </a:solidFill>
                <a:latin typeface="Arial"/>
                <a:ea typeface="Arial"/>
                <a:cs typeface="Arial"/>
              </a:defRPr>
            </a:defPPr>
          </a:lstStyle>
          <a:p>
            <a:pPr>
              <a:buNone/>
              <a:defRPr sz="3000" b="1">
                <a:solidFill>
                  <a:srgbClr val="172D45"/>
                </a:solidFill>
                <a:latin typeface="Arial"/>
                <a:ea typeface="Arial"/>
                <a:cs typeface="Arial"/>
              </a:defRPr>
            </a:pPr>
            <a:r>
              <a:rPr sz="3000" b="1">
                <a:solidFill>
                  <a:srgbClr val="172D45"/>
                </a:solidFill>
                <a:latin typeface="Arial"/>
                <a:ea typeface="Arial"/>
                <a:cs typeface="Arial"/>
              </a:rPr>
              <a:t>Digital Image Processing in Robotics</a:t>
            </a:r>
          </a:p>
        </p:txBody>
      </p:sp>
      <p:sp>
        <p:nvSpPr>
          <p:cNvPr id="2" name="Rectangle 1">
            <a:extLst>
              <a:ext uri="{FF2B5EF4-FFF2-40B4-BE49-F238E27FC236}">
                <a16:creationId xmlns:a16="http://schemas.microsoft.com/office/drawing/2014/main" id="{754C3B81-A0BB-425C-982D-D557C4B3897B}"/>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3" name="Rectangle 2">
            <a:extLst>
              <a:ext uri="{FF2B5EF4-FFF2-40B4-BE49-F238E27FC236}">
                <a16:creationId xmlns:a16="http://schemas.microsoft.com/office/drawing/2014/main" id="{7586DCDB-0B78-40CF-87F5-F221CA685C96}"/>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defRPr sz="1125" b="0">
                <a:solidFill>
                  <a:srgbClr val="536373"/>
                </a:solidFill>
                <a:latin typeface="Arial"/>
                <a:ea typeface="Arial"/>
                <a:cs typeface="Arial"/>
              </a:defRPr>
            </a:defPPr>
          </a:lstStyle>
          <a:p>
            <a:pPr>
              <a:buNone/>
              <a:defRPr sz="1125" b="0">
                <a:solidFill>
                  <a:srgbClr val="536373"/>
                </a:solidFill>
                <a:latin typeface="Arial"/>
                <a:ea typeface="Arial"/>
                <a:cs typeface="Arial"/>
              </a:defRPr>
            </a:pPr>
            <a:r>
              <a:rPr sz="1125" b="0" dirty="0" err="1">
                <a:solidFill>
                  <a:srgbClr val="536373"/>
                </a:solidFill>
                <a:latin typeface="Arial"/>
                <a:ea typeface="Arial"/>
                <a:cs typeface="Arial"/>
              </a:rPr>
              <a:t>MuJoCo</a:t>
            </a:r>
            <a:r>
              <a:rPr sz="1125" b="0" dirty="0">
                <a:solidFill>
                  <a:srgbClr val="536373"/>
                </a:solidFill>
                <a:latin typeface="Arial"/>
                <a:ea typeface="Arial"/>
                <a:cs typeface="Arial"/>
              </a:rPr>
              <a:t> Vision-Guided Multi-Object Pick-and-Place</a:t>
            </a:r>
          </a:p>
        </p:txBody>
      </p:sp>
      <p:sp>
        <p:nvSpPr>
          <p:cNvPr id="4" name="Rectangle 3">
            <a:extLst>
              <a:ext uri="{FF2B5EF4-FFF2-40B4-BE49-F238E27FC236}">
                <a16:creationId xmlns:a16="http://schemas.microsoft.com/office/drawing/2014/main" id="{F6093252-B11A-4C3D-8A7D-213B8CFA6F0A}"/>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defRPr sz="1275" b="1">
                <a:solidFill>
                  <a:srgbClr val="167A91"/>
                </a:solidFill>
                <a:latin typeface="Arial"/>
                <a:ea typeface="Arial"/>
                <a:cs typeface="Arial"/>
              </a:defRPr>
            </a:defPPr>
          </a:lstStyle>
          <a:p>
            <a:pPr>
              <a:buNone/>
              <a:defRPr sz="1275" b="1">
                <a:solidFill>
                  <a:srgbClr val="167A91"/>
                </a:solidFill>
                <a:latin typeface="Arial"/>
                <a:ea typeface="Arial"/>
                <a:cs typeface="Arial"/>
              </a:defRPr>
            </a:pPr>
            <a:r>
              <a:rPr sz="1275" b="1">
                <a:solidFill>
                  <a:srgbClr val="167A91"/>
                </a:solidFill>
                <a:latin typeface="Arial"/>
                <a:ea typeface="Arial"/>
                <a:cs typeface="Arial"/>
              </a:rPr>
              <a:t>01</a:t>
            </a:r>
          </a:p>
        </p:txBody>
      </p:sp>
      <p:sp>
        <p:nvSpPr>
          <p:cNvPr id="5" name="Rectangle 4">
            <a:extLst>
              <a:ext uri="{FF2B5EF4-FFF2-40B4-BE49-F238E27FC236}">
                <a16:creationId xmlns:a16="http://schemas.microsoft.com/office/drawing/2014/main" id="{17BB724B-A80A-488E-9D28-1D7B6F46B618}"/>
              </a:ext>
            </a:extLst>
          </p:cNvPr>
          <p:cNvSpPr>
            <a:spLocks noGrp="1"/>
          </p:cNvSpPr>
          <p:nvPr/>
        </p:nvSpPr>
        <p:spPr>
          <a:xfrm>
            <a:off x="533400" y="1571625"/>
            <a:ext cx="5429250" cy="1524000"/>
          </a:xfrm>
          <a:prstGeom prst="rect">
            <a:avLst/>
          </a:prstGeom>
          <a:noFill/>
          <a:ln w="0">
            <a:noFill/>
          </a:ln>
        </p:spPr>
        <p:txBody>
          <a:bodyPr wrap="square" lIns="0" tIns="0" rIns="0" bIns="0">
            <a:noAutofit/>
          </a:bodyPr>
          <a:lstStyle>
            <a:defPPr>
              <a:defRPr sz="4050" b="1">
                <a:solidFill>
                  <a:srgbClr val="172D45"/>
                </a:solidFill>
                <a:latin typeface="Arial"/>
                <a:ea typeface="Arial"/>
                <a:cs typeface="Arial"/>
              </a:defRPr>
            </a:defPPr>
          </a:lstStyle>
          <a:p>
            <a:pPr>
              <a:buNone/>
              <a:defRPr sz="4050" b="1">
                <a:solidFill>
                  <a:srgbClr val="172D45"/>
                </a:solidFill>
                <a:latin typeface="Arial"/>
                <a:ea typeface="Arial"/>
                <a:cs typeface="Arial"/>
              </a:defRPr>
            </a:pPr>
            <a:r>
              <a:rPr sz="4050" b="1">
                <a:solidFill>
                  <a:srgbClr val="172D45"/>
                </a:solidFill>
                <a:latin typeface="Arial"/>
                <a:ea typeface="Arial"/>
                <a:cs typeface="Arial"/>
              </a:rPr>
              <a:t>From camera pixels</a:t>
            </a:r>
          </a:p>
          <a:p>
            <a:pPr>
              <a:buNone/>
              <a:defRPr sz="4050" b="1">
                <a:solidFill>
                  <a:srgbClr val="172D45"/>
                </a:solidFill>
                <a:latin typeface="Arial"/>
                <a:ea typeface="Arial"/>
                <a:cs typeface="Arial"/>
              </a:defRPr>
            </a:pPr>
            <a:r>
              <a:rPr sz="4050" b="1">
                <a:solidFill>
                  <a:srgbClr val="172D45"/>
                </a:solidFill>
                <a:latin typeface="Arial"/>
                <a:ea typeface="Arial"/>
                <a:cs typeface="Arial"/>
              </a:rPr>
              <a:t>to robot action</a:t>
            </a:r>
          </a:p>
        </p:txBody>
      </p:sp>
      <p:sp>
        <p:nvSpPr>
          <p:cNvPr id="6" name="Rectangle 5">
            <a:extLst>
              <a:ext uri="{FF2B5EF4-FFF2-40B4-BE49-F238E27FC236}">
                <a16:creationId xmlns:a16="http://schemas.microsoft.com/office/drawing/2014/main" id="{EE8FB71E-F455-4EBF-A932-1F0261DB19B1}"/>
              </a:ext>
            </a:extLst>
          </p:cNvPr>
          <p:cNvSpPr>
            <a:spLocks noGrp="1"/>
          </p:cNvSpPr>
          <p:nvPr/>
        </p:nvSpPr>
        <p:spPr>
          <a:xfrm>
            <a:off x="533400" y="3486150"/>
            <a:ext cx="5286375" cy="1190625"/>
          </a:xfrm>
          <a:prstGeom prst="rect">
            <a:avLst/>
          </a:prstGeom>
          <a:noFill/>
          <a:ln w="0">
            <a:noFill/>
          </a:ln>
        </p:spPr>
        <p:txBody>
          <a:bodyPr wrap="square" lIns="0" tIns="0" rIns="0" bIns="0">
            <a:noAutofit/>
          </a:bodyPr>
          <a:lstStyle>
            <a:defPPr>
              <a:defRPr sz="2175" b="0">
                <a:solidFill>
                  <a:srgbClr val="172D45"/>
                </a:solidFill>
                <a:latin typeface="Arial"/>
                <a:ea typeface="Arial"/>
                <a:cs typeface="Arial"/>
              </a:defRPr>
            </a:defPPr>
          </a:lstStyle>
          <a:p>
            <a:pPr>
              <a:buNone/>
              <a:defRPr sz="2175" b="0">
                <a:solidFill>
                  <a:srgbClr val="172D45"/>
                </a:solidFill>
                <a:latin typeface="Arial"/>
                <a:ea typeface="Arial"/>
                <a:cs typeface="Arial"/>
              </a:defRPr>
            </a:pPr>
            <a:r>
              <a:rPr sz="2175" b="0">
                <a:solidFill>
                  <a:srgbClr val="172D45"/>
                </a:solidFill>
                <a:latin typeface="Arial"/>
                <a:ea typeface="Arial"/>
                <a:cs typeface="Arial"/>
              </a:rPr>
              <a:t>How does a robot identify the selected box,</a:t>
            </a:r>
          </a:p>
          <a:p>
            <a:pPr>
              <a:buNone/>
              <a:defRPr sz="2175" b="0">
                <a:solidFill>
                  <a:srgbClr val="172D45"/>
                </a:solidFill>
                <a:latin typeface="Arial"/>
                <a:ea typeface="Arial"/>
                <a:cs typeface="Arial"/>
              </a:defRPr>
            </a:pPr>
            <a:r>
              <a:rPr sz="2175" b="0">
                <a:solidFill>
                  <a:srgbClr val="172D45"/>
                </a:solidFill>
                <a:latin typeface="Arial"/>
                <a:ea typeface="Arial"/>
                <a:cs typeface="Arial"/>
              </a:rPr>
              <a:t>estimate its position and angle, and pick it up?</a:t>
            </a:r>
          </a:p>
        </p:txBody>
      </p:sp>
      <p:sp>
        <p:nvSpPr>
          <p:cNvPr id="7" name="Rectangle 6">
            <a:extLst>
              <a:ext uri="{FF2B5EF4-FFF2-40B4-BE49-F238E27FC236}">
                <a16:creationId xmlns:a16="http://schemas.microsoft.com/office/drawing/2014/main" id="{27D8EB53-4F59-4743-8431-730FA3AD3E40}"/>
              </a:ext>
            </a:extLst>
          </p:cNvPr>
          <p:cNvSpPr>
            <a:spLocks noGrp="1"/>
          </p:cNvSpPr>
          <p:nvPr/>
        </p:nvSpPr>
        <p:spPr>
          <a:xfrm>
            <a:off x="533400" y="5219700"/>
            <a:ext cx="5143500" cy="714375"/>
          </a:xfrm>
          <a:prstGeom prst="rect">
            <a:avLst/>
          </a:prstGeom>
          <a:noFill/>
          <a:ln w="0">
            <a:noFill/>
          </a:ln>
        </p:spPr>
        <p:txBody>
          <a:bodyPr wrap="square" lIns="0" tIns="0" rIns="0" bIns="0">
            <a:noAutofit/>
          </a:bodyPr>
          <a:lstStyle>
            <a:defPPr>
              <a:defRPr sz="1800" b="0">
                <a:solidFill>
                  <a:srgbClr val="536373"/>
                </a:solidFill>
                <a:latin typeface="Arial"/>
                <a:ea typeface="Arial"/>
                <a:cs typeface="Arial"/>
              </a:defRPr>
            </a:defPPr>
          </a:lstStyle>
          <a:p>
            <a:pPr>
              <a:buNone/>
              <a:defRPr sz="1800" b="0">
                <a:solidFill>
                  <a:srgbClr val="536373"/>
                </a:solidFill>
                <a:latin typeface="Arial"/>
                <a:ea typeface="Arial"/>
                <a:cs typeface="Arial"/>
              </a:defRPr>
            </a:pPr>
            <a:r>
              <a:rPr lang="en-IN" sz="1800" b="0" dirty="0">
                <a:solidFill>
                  <a:srgbClr val="536373"/>
                </a:solidFill>
                <a:latin typeface="Arial"/>
                <a:ea typeface="Arial"/>
                <a:cs typeface="Arial"/>
              </a:rPr>
              <a:t>SETTI APPALANAIDU      -  92510118026</a:t>
            </a:r>
          </a:p>
          <a:p>
            <a:pPr>
              <a:buNone/>
              <a:defRPr sz="1800" b="0">
                <a:solidFill>
                  <a:srgbClr val="536373"/>
                </a:solidFill>
                <a:latin typeface="Arial"/>
                <a:ea typeface="Arial"/>
                <a:cs typeface="Arial"/>
              </a:defRPr>
            </a:pPr>
            <a:r>
              <a:rPr lang="en-IN" dirty="0">
                <a:solidFill>
                  <a:srgbClr val="536373"/>
                </a:solidFill>
                <a:latin typeface="Arial"/>
                <a:ea typeface="Arial"/>
                <a:cs typeface="Arial"/>
              </a:rPr>
              <a:t>MOHITRAJSINH JADEJA -  92510118004</a:t>
            </a:r>
            <a:endParaRPr sz="1800" b="0" dirty="0">
              <a:solidFill>
                <a:srgbClr val="536373"/>
              </a:solidFill>
              <a:latin typeface="Arial"/>
              <a:ea typeface="Arial"/>
              <a:cs typeface="Arial"/>
            </a:endParaRPr>
          </a:p>
        </p:txBody>
      </p:sp>
      <p:pic>
        <p:nvPicPr>
          <p:cNvPr id="8" name="Picture 7">
            <a:extLst>
              <a:ext uri="{FF2B5EF4-FFF2-40B4-BE49-F238E27FC236}">
                <a16:creationId xmlns:a16="http://schemas.microsoft.com/office/drawing/2014/main" id="{95CA1624-AFA1-4368-913B-E8DE20F3205F}"/>
              </a:ext>
            </a:extLst>
          </p:cNvPr>
          <p:cNvPicPr>
            <a:picLocks noChangeAspect="1"/>
          </p:cNvPicPr>
          <p:nvPr/>
        </p:nvPicPr>
        <p:blipFill>
          <a:blip r:embed="rId3"/>
          <a:stretch/>
        </p:blipFill>
        <p:spPr>
          <a:xfrm>
            <a:off x="6096000" y="1543050"/>
            <a:ext cx="5562600" cy="4171950"/>
          </a:xfrm>
          <a:prstGeom prst="rect">
            <a:avLst/>
          </a:prstGeom>
        </p:spPr>
      </p:pic>
      <p:sp>
        <p:nvSpPr>
          <p:cNvPr id="9" name="Rectangle 8">
            <a:extLst>
              <a:ext uri="{FF2B5EF4-FFF2-40B4-BE49-F238E27FC236}">
                <a16:creationId xmlns:a16="http://schemas.microsoft.com/office/drawing/2014/main" id="{24CE1F6C-A771-4B2D-8982-B311DC91ADEB}"/>
              </a:ext>
            </a:extLst>
          </p:cNvPr>
          <p:cNvSpPr>
            <a:spLocks noGrp="1"/>
          </p:cNvSpPr>
          <p:nvPr/>
        </p:nvSpPr>
        <p:spPr>
          <a:xfrm>
            <a:off x="6286500" y="5867400"/>
            <a:ext cx="5181600" cy="285750"/>
          </a:xfrm>
          <a:prstGeom prst="rect">
            <a:avLst/>
          </a:prstGeom>
          <a:noFill/>
          <a:ln w="0">
            <a:noFill/>
          </a:ln>
        </p:spPr>
        <p:txBody>
          <a:bodyPr wrap="square" lIns="0" tIns="0" rIns="0" bIns="0">
            <a:noAutofit/>
          </a:bodyPr>
          <a:lstStyle>
            <a:defPPr>
              <a:defRPr sz="1500" b="0">
                <a:solidFill>
                  <a:srgbClr val="167A91"/>
                </a:solidFill>
                <a:latin typeface="Arial"/>
                <a:ea typeface="Arial"/>
                <a:cs typeface="Arial"/>
              </a:defRPr>
            </a:defPPr>
          </a:lstStyle>
          <a:p>
            <a:pPr>
              <a:buNone/>
              <a:defRPr sz="1500" b="0">
                <a:solidFill>
                  <a:srgbClr val="167A91"/>
                </a:solidFill>
                <a:latin typeface="Arial"/>
                <a:ea typeface="Arial"/>
                <a:cs typeface="Arial"/>
              </a:defRPr>
            </a:pPr>
            <a:r>
              <a:rPr sz="1500" b="0" dirty="0">
                <a:solidFill>
                  <a:srgbClr val="167A91"/>
                </a:solidFill>
                <a:latin typeface="Arial"/>
                <a:ea typeface="Arial"/>
                <a:cs typeface="Arial"/>
              </a:rPr>
              <a:t>Actual </a:t>
            </a:r>
            <a:r>
              <a:rPr sz="1500" b="0" dirty="0" err="1">
                <a:solidFill>
                  <a:srgbClr val="167A91"/>
                </a:solidFill>
                <a:latin typeface="Arial"/>
                <a:ea typeface="Arial"/>
                <a:cs typeface="Arial"/>
              </a:rPr>
              <a:t>MuJoCo</a:t>
            </a:r>
            <a:r>
              <a:rPr sz="1500" b="0" dirty="0">
                <a:solidFill>
                  <a:srgbClr val="167A91"/>
                </a:solidFill>
                <a:latin typeface="Arial"/>
                <a:ea typeface="Arial"/>
                <a:cs typeface="Arial"/>
              </a:rPr>
              <a:t> run</a:t>
            </a:r>
          </a:p>
        </p:txBody>
      </p:sp>
    </p:spTree>
    <p:extLst>
      <p:ext uri="{BB962C8B-B14F-4D97-AF65-F5344CB8AC3E}">
        <p14:creationId xmlns:p14="http://schemas.microsoft.com/office/powerpoint/2010/main" val="1820249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B373789-F61B-487D-9743-ACC0A63B68DF}"/>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defRPr sz="3000" b="1">
                <a:solidFill>
                  <a:srgbClr val="172D45"/>
                </a:solidFill>
                <a:latin typeface="Arial"/>
                <a:ea typeface="Arial"/>
                <a:cs typeface="Arial"/>
              </a:defRPr>
            </a:defPPr>
          </a:lstStyle>
          <a:p>
            <a:pPr>
              <a:buNone/>
              <a:defRPr sz="3000" b="1">
                <a:solidFill>
                  <a:srgbClr val="172D45"/>
                </a:solidFill>
                <a:latin typeface="Arial"/>
                <a:ea typeface="Arial"/>
                <a:cs typeface="Arial"/>
              </a:defRPr>
            </a:pPr>
            <a:r>
              <a:rPr sz="3000" b="1">
                <a:solidFill>
                  <a:srgbClr val="172D45"/>
                </a:solidFill>
                <a:latin typeface="Arial"/>
                <a:ea typeface="Arial"/>
                <a:cs typeface="Arial"/>
              </a:rPr>
              <a:t>From camera pixels to robot action</a:t>
            </a:r>
          </a:p>
        </p:txBody>
      </p:sp>
      <p:sp>
        <p:nvSpPr>
          <p:cNvPr id="2" name="Rectangle 1">
            <a:extLst>
              <a:ext uri="{FF2B5EF4-FFF2-40B4-BE49-F238E27FC236}">
                <a16:creationId xmlns:a16="http://schemas.microsoft.com/office/drawing/2014/main" id="{E8096654-A2C4-4A6C-A9B7-5E26A2B2173E}"/>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3" name="Rectangle 2">
            <a:extLst>
              <a:ext uri="{FF2B5EF4-FFF2-40B4-BE49-F238E27FC236}">
                <a16:creationId xmlns:a16="http://schemas.microsoft.com/office/drawing/2014/main" id="{A552579C-9474-4F1D-99CA-D84528786A18}"/>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defRPr sz="1125" b="0">
                <a:solidFill>
                  <a:srgbClr val="536373"/>
                </a:solidFill>
                <a:latin typeface="Arial"/>
                <a:ea typeface="Arial"/>
                <a:cs typeface="Arial"/>
              </a:defRPr>
            </a:defPPr>
          </a:lstStyle>
          <a:p>
            <a:pPr>
              <a:buNone/>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4" name="Rectangle 3">
            <a:extLst>
              <a:ext uri="{FF2B5EF4-FFF2-40B4-BE49-F238E27FC236}">
                <a16:creationId xmlns:a16="http://schemas.microsoft.com/office/drawing/2014/main" id="{1D80178B-A293-42D6-B19B-D3E45C41D17E}"/>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defRPr sz="1275" b="1">
                <a:solidFill>
                  <a:srgbClr val="167A91"/>
                </a:solidFill>
                <a:latin typeface="Arial"/>
                <a:ea typeface="Arial"/>
                <a:cs typeface="Arial"/>
              </a:defRPr>
            </a:defPPr>
          </a:lstStyle>
          <a:p>
            <a:pPr>
              <a:buNone/>
              <a:defRPr sz="1275" b="1">
                <a:solidFill>
                  <a:srgbClr val="167A91"/>
                </a:solidFill>
                <a:latin typeface="Arial"/>
                <a:ea typeface="Arial"/>
                <a:cs typeface="Arial"/>
              </a:defRPr>
            </a:pPr>
            <a:r>
              <a:rPr sz="1275" b="1">
                <a:solidFill>
                  <a:srgbClr val="167A91"/>
                </a:solidFill>
                <a:latin typeface="Arial"/>
                <a:ea typeface="Arial"/>
                <a:cs typeface="Arial"/>
              </a:rPr>
              <a:t>02</a:t>
            </a:r>
          </a:p>
        </p:txBody>
      </p:sp>
      <p:sp>
        <p:nvSpPr>
          <p:cNvPr id="5" name="Rectangle 4">
            <a:extLst>
              <a:ext uri="{FF2B5EF4-FFF2-40B4-BE49-F238E27FC236}">
                <a16:creationId xmlns:a16="http://schemas.microsoft.com/office/drawing/2014/main" id="{6496019A-6D67-4CF0-AF5B-A0E96688CDF3}"/>
              </a:ext>
            </a:extLst>
          </p:cNvPr>
          <p:cNvSpPr>
            <a:spLocks noGrp="1"/>
          </p:cNvSpPr>
          <p:nvPr/>
        </p:nvSpPr>
        <p:spPr>
          <a:xfrm>
            <a:off x="533400" y="1809750"/>
            <a:ext cx="2609850" cy="1190625"/>
          </a:xfrm>
          <a:prstGeom prst="rect">
            <a:avLst/>
          </a:prstGeom>
          <a:solidFill>
            <a:srgbClr val="FFFFFF"/>
          </a:solidFill>
          <a:ln w="9525">
            <a:solidFill>
              <a:srgbClr val="D8E1E8"/>
            </a:solidFill>
          </a:ln>
        </p:spPr>
      </p:sp>
      <p:sp>
        <p:nvSpPr>
          <p:cNvPr id="6" name="Rectangle 5">
            <a:extLst>
              <a:ext uri="{FF2B5EF4-FFF2-40B4-BE49-F238E27FC236}">
                <a16:creationId xmlns:a16="http://schemas.microsoft.com/office/drawing/2014/main" id="{1CA309BF-E29D-4180-A7AA-4B2DE88D236C}"/>
              </a:ext>
            </a:extLst>
          </p:cNvPr>
          <p:cNvSpPr>
            <a:spLocks noGrp="1"/>
          </p:cNvSpPr>
          <p:nvPr/>
        </p:nvSpPr>
        <p:spPr>
          <a:xfrm>
            <a:off x="685800" y="1971675"/>
            <a:ext cx="2324100" cy="361950"/>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01  Camera</a:t>
            </a:r>
          </a:p>
        </p:txBody>
      </p:sp>
      <p:sp>
        <p:nvSpPr>
          <p:cNvPr id="7" name="Rectangle 6">
            <a:extLst>
              <a:ext uri="{FF2B5EF4-FFF2-40B4-BE49-F238E27FC236}">
                <a16:creationId xmlns:a16="http://schemas.microsoft.com/office/drawing/2014/main" id="{DB3040B4-E896-4ED6-925E-128851F43792}"/>
              </a:ext>
            </a:extLst>
          </p:cNvPr>
          <p:cNvSpPr>
            <a:spLocks noGrp="1"/>
          </p:cNvSpPr>
          <p:nvPr/>
        </p:nvSpPr>
        <p:spPr>
          <a:xfrm>
            <a:off x="685800" y="2447925"/>
            <a:ext cx="2324100" cy="4000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Render RGB pixels</a:t>
            </a:r>
          </a:p>
        </p:txBody>
      </p:sp>
      <p:sp>
        <p:nvSpPr>
          <p:cNvPr id="8" name="Arrow: Right 7">
            <a:extLst>
              <a:ext uri="{FF2B5EF4-FFF2-40B4-BE49-F238E27FC236}">
                <a16:creationId xmlns:a16="http://schemas.microsoft.com/office/drawing/2014/main" id="{AC86BEB4-08AD-4C9A-9930-5BB925721F4F}"/>
              </a:ext>
            </a:extLst>
          </p:cNvPr>
          <p:cNvSpPr>
            <a:spLocks noGrp="1"/>
          </p:cNvSpPr>
          <p:nvPr/>
        </p:nvSpPr>
        <p:spPr>
          <a:xfrm>
            <a:off x="3181350" y="2314575"/>
            <a:ext cx="161925" cy="152400"/>
          </a:xfrm>
          <a:prstGeom prst="rightArrow">
            <a:avLst/>
          </a:prstGeom>
          <a:solidFill>
            <a:srgbClr val="167A91"/>
          </a:solidFill>
          <a:ln w="0">
            <a:noFill/>
          </a:ln>
        </p:spPr>
      </p:sp>
      <p:sp>
        <p:nvSpPr>
          <p:cNvPr id="9" name="Rectangle 8">
            <a:extLst>
              <a:ext uri="{FF2B5EF4-FFF2-40B4-BE49-F238E27FC236}">
                <a16:creationId xmlns:a16="http://schemas.microsoft.com/office/drawing/2014/main" id="{30AF57F0-752C-4BA0-95B6-B0073AAEAD59}"/>
              </a:ext>
            </a:extLst>
          </p:cNvPr>
          <p:cNvSpPr>
            <a:spLocks noGrp="1"/>
          </p:cNvSpPr>
          <p:nvPr/>
        </p:nvSpPr>
        <p:spPr>
          <a:xfrm>
            <a:off x="3371850" y="1809750"/>
            <a:ext cx="2609850" cy="1190625"/>
          </a:xfrm>
          <a:prstGeom prst="rect">
            <a:avLst/>
          </a:prstGeom>
          <a:solidFill>
            <a:srgbClr val="FFFFFF"/>
          </a:solidFill>
          <a:ln w="9525">
            <a:solidFill>
              <a:srgbClr val="D8E1E8"/>
            </a:solidFill>
          </a:ln>
        </p:spPr>
      </p:sp>
      <p:sp>
        <p:nvSpPr>
          <p:cNvPr id="10" name="Rectangle 9">
            <a:extLst>
              <a:ext uri="{FF2B5EF4-FFF2-40B4-BE49-F238E27FC236}">
                <a16:creationId xmlns:a16="http://schemas.microsoft.com/office/drawing/2014/main" id="{16C80E41-8A15-485F-86D4-FABECB71E22C}"/>
              </a:ext>
            </a:extLst>
          </p:cNvPr>
          <p:cNvSpPr>
            <a:spLocks noGrp="1"/>
          </p:cNvSpPr>
          <p:nvPr/>
        </p:nvSpPr>
        <p:spPr>
          <a:xfrm>
            <a:off x="3524250" y="1971675"/>
            <a:ext cx="2324100" cy="361950"/>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02  Filter</a:t>
            </a:r>
          </a:p>
        </p:txBody>
      </p:sp>
      <p:sp>
        <p:nvSpPr>
          <p:cNvPr id="11" name="Rectangle 10">
            <a:extLst>
              <a:ext uri="{FF2B5EF4-FFF2-40B4-BE49-F238E27FC236}">
                <a16:creationId xmlns:a16="http://schemas.microsoft.com/office/drawing/2014/main" id="{3C307AB7-CA96-4EED-A5CB-8B0015472D04}"/>
              </a:ext>
            </a:extLst>
          </p:cNvPr>
          <p:cNvSpPr>
            <a:spLocks noGrp="1"/>
          </p:cNvSpPr>
          <p:nvPr/>
        </p:nvSpPr>
        <p:spPr>
          <a:xfrm>
            <a:off x="3524250" y="2447925"/>
            <a:ext cx="2324100" cy="4000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Reduce impulse noise</a:t>
            </a:r>
          </a:p>
        </p:txBody>
      </p:sp>
      <p:sp>
        <p:nvSpPr>
          <p:cNvPr id="12" name="Arrow: Right 11">
            <a:extLst>
              <a:ext uri="{FF2B5EF4-FFF2-40B4-BE49-F238E27FC236}">
                <a16:creationId xmlns:a16="http://schemas.microsoft.com/office/drawing/2014/main" id="{5CCC2205-53D6-44D8-98CA-D964AA12D8DB}"/>
              </a:ext>
            </a:extLst>
          </p:cNvPr>
          <p:cNvSpPr>
            <a:spLocks noGrp="1"/>
          </p:cNvSpPr>
          <p:nvPr/>
        </p:nvSpPr>
        <p:spPr>
          <a:xfrm>
            <a:off x="6019800" y="2314575"/>
            <a:ext cx="161925" cy="152400"/>
          </a:xfrm>
          <a:prstGeom prst="rightArrow">
            <a:avLst/>
          </a:prstGeom>
          <a:solidFill>
            <a:srgbClr val="167A91"/>
          </a:solidFill>
          <a:ln w="0">
            <a:noFill/>
          </a:ln>
        </p:spPr>
      </p:sp>
      <p:sp>
        <p:nvSpPr>
          <p:cNvPr id="13" name="Rectangle 12">
            <a:extLst>
              <a:ext uri="{FF2B5EF4-FFF2-40B4-BE49-F238E27FC236}">
                <a16:creationId xmlns:a16="http://schemas.microsoft.com/office/drawing/2014/main" id="{8F61B569-71AE-4C83-B92B-CEFF9DCB1997}"/>
              </a:ext>
            </a:extLst>
          </p:cNvPr>
          <p:cNvSpPr>
            <a:spLocks noGrp="1"/>
          </p:cNvSpPr>
          <p:nvPr/>
        </p:nvSpPr>
        <p:spPr>
          <a:xfrm>
            <a:off x="6210300" y="1809750"/>
            <a:ext cx="2609850" cy="1190625"/>
          </a:xfrm>
          <a:prstGeom prst="rect">
            <a:avLst/>
          </a:prstGeom>
          <a:solidFill>
            <a:srgbClr val="FFFFFF"/>
          </a:solidFill>
          <a:ln w="9525">
            <a:solidFill>
              <a:srgbClr val="D8E1E8"/>
            </a:solidFill>
          </a:ln>
        </p:spPr>
      </p:sp>
      <p:sp>
        <p:nvSpPr>
          <p:cNvPr id="14" name="Rectangle 13">
            <a:extLst>
              <a:ext uri="{FF2B5EF4-FFF2-40B4-BE49-F238E27FC236}">
                <a16:creationId xmlns:a16="http://schemas.microsoft.com/office/drawing/2014/main" id="{840714EF-BFE2-465A-BFCC-9FF221AD4F92}"/>
              </a:ext>
            </a:extLst>
          </p:cNvPr>
          <p:cNvSpPr>
            <a:spLocks noGrp="1"/>
          </p:cNvSpPr>
          <p:nvPr/>
        </p:nvSpPr>
        <p:spPr>
          <a:xfrm>
            <a:off x="6362700" y="1971675"/>
            <a:ext cx="2324100" cy="361950"/>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03  Segment</a:t>
            </a:r>
          </a:p>
        </p:txBody>
      </p:sp>
      <p:sp>
        <p:nvSpPr>
          <p:cNvPr id="15" name="Rectangle 14">
            <a:extLst>
              <a:ext uri="{FF2B5EF4-FFF2-40B4-BE49-F238E27FC236}">
                <a16:creationId xmlns:a16="http://schemas.microsoft.com/office/drawing/2014/main" id="{41E49BD0-C11E-4E49-A508-9918AF9AB0D4}"/>
              </a:ext>
            </a:extLst>
          </p:cNvPr>
          <p:cNvSpPr>
            <a:spLocks noGrp="1"/>
          </p:cNvSpPr>
          <p:nvPr/>
        </p:nvSpPr>
        <p:spPr>
          <a:xfrm>
            <a:off x="6362700" y="2447925"/>
            <a:ext cx="2324100" cy="4000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Threshold HSV color</a:t>
            </a:r>
          </a:p>
        </p:txBody>
      </p:sp>
      <p:sp>
        <p:nvSpPr>
          <p:cNvPr id="16" name="Arrow: Right 15">
            <a:extLst>
              <a:ext uri="{FF2B5EF4-FFF2-40B4-BE49-F238E27FC236}">
                <a16:creationId xmlns:a16="http://schemas.microsoft.com/office/drawing/2014/main" id="{58FCC88B-CC93-4E00-90BF-867F5F664600}"/>
              </a:ext>
            </a:extLst>
          </p:cNvPr>
          <p:cNvSpPr>
            <a:spLocks noGrp="1"/>
          </p:cNvSpPr>
          <p:nvPr/>
        </p:nvSpPr>
        <p:spPr>
          <a:xfrm>
            <a:off x="8858250" y="2314575"/>
            <a:ext cx="161925" cy="152400"/>
          </a:xfrm>
          <a:prstGeom prst="rightArrow">
            <a:avLst/>
          </a:prstGeom>
          <a:solidFill>
            <a:srgbClr val="167A91"/>
          </a:solidFill>
          <a:ln w="0">
            <a:noFill/>
          </a:ln>
        </p:spPr>
      </p:sp>
      <p:sp>
        <p:nvSpPr>
          <p:cNvPr id="17" name="Rectangle 16">
            <a:extLst>
              <a:ext uri="{FF2B5EF4-FFF2-40B4-BE49-F238E27FC236}">
                <a16:creationId xmlns:a16="http://schemas.microsoft.com/office/drawing/2014/main" id="{BABE1816-B4AE-4FFE-9C88-1158CE54B905}"/>
              </a:ext>
            </a:extLst>
          </p:cNvPr>
          <p:cNvSpPr>
            <a:spLocks noGrp="1"/>
          </p:cNvSpPr>
          <p:nvPr/>
        </p:nvSpPr>
        <p:spPr>
          <a:xfrm>
            <a:off x="9048750" y="1809750"/>
            <a:ext cx="2609850" cy="1190625"/>
          </a:xfrm>
          <a:prstGeom prst="rect">
            <a:avLst/>
          </a:prstGeom>
          <a:solidFill>
            <a:srgbClr val="FFFFFF"/>
          </a:solidFill>
          <a:ln w="9525">
            <a:solidFill>
              <a:srgbClr val="D8E1E8"/>
            </a:solidFill>
          </a:ln>
        </p:spPr>
      </p:sp>
      <p:sp>
        <p:nvSpPr>
          <p:cNvPr id="18" name="Rectangle 17">
            <a:extLst>
              <a:ext uri="{FF2B5EF4-FFF2-40B4-BE49-F238E27FC236}">
                <a16:creationId xmlns:a16="http://schemas.microsoft.com/office/drawing/2014/main" id="{84BD1641-ECF5-45E7-8D4F-95073903AD7D}"/>
              </a:ext>
            </a:extLst>
          </p:cNvPr>
          <p:cNvSpPr>
            <a:spLocks noGrp="1"/>
          </p:cNvSpPr>
          <p:nvPr/>
        </p:nvSpPr>
        <p:spPr>
          <a:xfrm>
            <a:off x="9201150" y="1971675"/>
            <a:ext cx="2324100" cy="361950"/>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04  Clean mask</a:t>
            </a:r>
          </a:p>
        </p:txBody>
      </p:sp>
      <p:sp>
        <p:nvSpPr>
          <p:cNvPr id="19" name="Rectangle 18">
            <a:extLst>
              <a:ext uri="{FF2B5EF4-FFF2-40B4-BE49-F238E27FC236}">
                <a16:creationId xmlns:a16="http://schemas.microsoft.com/office/drawing/2014/main" id="{6C4ACBD7-3392-4DB7-9D38-3CE9FC9F53A4}"/>
              </a:ext>
            </a:extLst>
          </p:cNvPr>
          <p:cNvSpPr>
            <a:spLocks noGrp="1"/>
          </p:cNvSpPr>
          <p:nvPr/>
        </p:nvSpPr>
        <p:spPr>
          <a:xfrm>
            <a:off x="9201150" y="2447925"/>
            <a:ext cx="2324100" cy="4000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Opening + closing</a:t>
            </a:r>
          </a:p>
        </p:txBody>
      </p:sp>
      <p:sp>
        <p:nvSpPr>
          <p:cNvPr id="20" name="Rectangle 19">
            <a:extLst>
              <a:ext uri="{FF2B5EF4-FFF2-40B4-BE49-F238E27FC236}">
                <a16:creationId xmlns:a16="http://schemas.microsoft.com/office/drawing/2014/main" id="{6BF116C9-20DE-4A82-9747-F2B9E6137A25}"/>
              </a:ext>
            </a:extLst>
          </p:cNvPr>
          <p:cNvSpPr>
            <a:spLocks noGrp="1"/>
          </p:cNvSpPr>
          <p:nvPr/>
        </p:nvSpPr>
        <p:spPr>
          <a:xfrm>
            <a:off x="533400" y="3762375"/>
            <a:ext cx="2609850" cy="1190625"/>
          </a:xfrm>
          <a:prstGeom prst="rect">
            <a:avLst/>
          </a:prstGeom>
          <a:solidFill>
            <a:srgbClr val="FFFFFF"/>
          </a:solidFill>
          <a:ln w="9525">
            <a:solidFill>
              <a:srgbClr val="D8E1E8"/>
            </a:solidFill>
          </a:ln>
        </p:spPr>
      </p:sp>
      <p:sp>
        <p:nvSpPr>
          <p:cNvPr id="21" name="Rectangle 20">
            <a:extLst>
              <a:ext uri="{FF2B5EF4-FFF2-40B4-BE49-F238E27FC236}">
                <a16:creationId xmlns:a16="http://schemas.microsoft.com/office/drawing/2014/main" id="{27263D68-AC48-432E-92D7-126632D42C2E}"/>
              </a:ext>
            </a:extLst>
          </p:cNvPr>
          <p:cNvSpPr>
            <a:spLocks noGrp="1"/>
          </p:cNvSpPr>
          <p:nvPr/>
        </p:nvSpPr>
        <p:spPr>
          <a:xfrm>
            <a:off x="685800" y="3924300"/>
            <a:ext cx="2324100" cy="361950"/>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05  Detect</a:t>
            </a:r>
          </a:p>
        </p:txBody>
      </p:sp>
      <p:sp>
        <p:nvSpPr>
          <p:cNvPr id="22" name="Rectangle 21">
            <a:extLst>
              <a:ext uri="{FF2B5EF4-FFF2-40B4-BE49-F238E27FC236}">
                <a16:creationId xmlns:a16="http://schemas.microsoft.com/office/drawing/2014/main" id="{7D7562BE-422D-45BE-B098-2B5044275823}"/>
              </a:ext>
            </a:extLst>
          </p:cNvPr>
          <p:cNvSpPr>
            <a:spLocks noGrp="1"/>
          </p:cNvSpPr>
          <p:nvPr/>
        </p:nvSpPr>
        <p:spPr>
          <a:xfrm>
            <a:off x="685800" y="4400550"/>
            <a:ext cx="2324100" cy="4000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Outline, centre, angle</a:t>
            </a:r>
          </a:p>
        </p:txBody>
      </p:sp>
      <p:sp>
        <p:nvSpPr>
          <p:cNvPr id="23" name="Arrow: Right 22">
            <a:extLst>
              <a:ext uri="{FF2B5EF4-FFF2-40B4-BE49-F238E27FC236}">
                <a16:creationId xmlns:a16="http://schemas.microsoft.com/office/drawing/2014/main" id="{6E98C215-DABA-40FC-945A-82B72E6C4F6F}"/>
              </a:ext>
            </a:extLst>
          </p:cNvPr>
          <p:cNvSpPr>
            <a:spLocks noGrp="1"/>
          </p:cNvSpPr>
          <p:nvPr/>
        </p:nvSpPr>
        <p:spPr>
          <a:xfrm>
            <a:off x="3181350" y="4267200"/>
            <a:ext cx="161925" cy="152400"/>
          </a:xfrm>
          <a:prstGeom prst="rightArrow">
            <a:avLst/>
          </a:prstGeom>
          <a:solidFill>
            <a:srgbClr val="167A91"/>
          </a:solidFill>
          <a:ln w="0">
            <a:noFill/>
          </a:ln>
        </p:spPr>
      </p:sp>
      <p:sp>
        <p:nvSpPr>
          <p:cNvPr id="24" name="Rectangle 23">
            <a:extLst>
              <a:ext uri="{FF2B5EF4-FFF2-40B4-BE49-F238E27FC236}">
                <a16:creationId xmlns:a16="http://schemas.microsoft.com/office/drawing/2014/main" id="{F50E17BE-9135-4702-876E-0CCFF851595E}"/>
              </a:ext>
            </a:extLst>
          </p:cNvPr>
          <p:cNvSpPr>
            <a:spLocks noGrp="1"/>
          </p:cNvSpPr>
          <p:nvPr/>
        </p:nvSpPr>
        <p:spPr>
          <a:xfrm>
            <a:off x="3371850" y="3762375"/>
            <a:ext cx="2609850" cy="1190625"/>
          </a:xfrm>
          <a:prstGeom prst="rect">
            <a:avLst/>
          </a:prstGeom>
          <a:solidFill>
            <a:srgbClr val="FFFFFF"/>
          </a:solidFill>
          <a:ln w="9525">
            <a:solidFill>
              <a:srgbClr val="D8E1E8"/>
            </a:solidFill>
          </a:ln>
        </p:spPr>
      </p:sp>
      <p:sp>
        <p:nvSpPr>
          <p:cNvPr id="25" name="Rectangle 24">
            <a:extLst>
              <a:ext uri="{FF2B5EF4-FFF2-40B4-BE49-F238E27FC236}">
                <a16:creationId xmlns:a16="http://schemas.microsoft.com/office/drawing/2014/main" id="{302EF5F2-0FBF-47C8-A52F-64870135E5DA}"/>
              </a:ext>
            </a:extLst>
          </p:cNvPr>
          <p:cNvSpPr>
            <a:spLocks noGrp="1"/>
          </p:cNvSpPr>
          <p:nvPr/>
        </p:nvSpPr>
        <p:spPr>
          <a:xfrm>
            <a:off x="3524250" y="3924300"/>
            <a:ext cx="2324100" cy="361950"/>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06  Localize</a:t>
            </a:r>
          </a:p>
        </p:txBody>
      </p:sp>
      <p:sp>
        <p:nvSpPr>
          <p:cNvPr id="26" name="Rectangle 25">
            <a:extLst>
              <a:ext uri="{FF2B5EF4-FFF2-40B4-BE49-F238E27FC236}">
                <a16:creationId xmlns:a16="http://schemas.microsoft.com/office/drawing/2014/main" id="{207E3CA3-3687-468C-A04F-565E1F09DC60}"/>
              </a:ext>
            </a:extLst>
          </p:cNvPr>
          <p:cNvSpPr>
            <a:spLocks noGrp="1"/>
          </p:cNvSpPr>
          <p:nvPr/>
        </p:nvSpPr>
        <p:spPr>
          <a:xfrm>
            <a:off x="3524250" y="4400550"/>
            <a:ext cx="2324100" cy="4000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World position + yaw</a:t>
            </a:r>
          </a:p>
        </p:txBody>
      </p:sp>
      <p:sp>
        <p:nvSpPr>
          <p:cNvPr id="27" name="Arrow: Right 26">
            <a:extLst>
              <a:ext uri="{FF2B5EF4-FFF2-40B4-BE49-F238E27FC236}">
                <a16:creationId xmlns:a16="http://schemas.microsoft.com/office/drawing/2014/main" id="{2827C6CB-856A-411D-8028-11F54C2EDCDF}"/>
              </a:ext>
            </a:extLst>
          </p:cNvPr>
          <p:cNvSpPr>
            <a:spLocks noGrp="1"/>
          </p:cNvSpPr>
          <p:nvPr/>
        </p:nvSpPr>
        <p:spPr>
          <a:xfrm>
            <a:off x="6019800" y="4267200"/>
            <a:ext cx="161925" cy="152400"/>
          </a:xfrm>
          <a:prstGeom prst="rightArrow">
            <a:avLst/>
          </a:prstGeom>
          <a:solidFill>
            <a:srgbClr val="167A91"/>
          </a:solidFill>
          <a:ln w="0">
            <a:noFill/>
          </a:ln>
        </p:spPr>
      </p:sp>
      <p:sp>
        <p:nvSpPr>
          <p:cNvPr id="28" name="Rectangle 27">
            <a:extLst>
              <a:ext uri="{FF2B5EF4-FFF2-40B4-BE49-F238E27FC236}">
                <a16:creationId xmlns:a16="http://schemas.microsoft.com/office/drawing/2014/main" id="{80EF7B69-A8BD-4C09-B668-9F669165C6F0}"/>
              </a:ext>
            </a:extLst>
          </p:cNvPr>
          <p:cNvSpPr>
            <a:spLocks noGrp="1"/>
          </p:cNvSpPr>
          <p:nvPr/>
        </p:nvSpPr>
        <p:spPr>
          <a:xfrm>
            <a:off x="6210300" y="3762375"/>
            <a:ext cx="2609850" cy="1190625"/>
          </a:xfrm>
          <a:prstGeom prst="rect">
            <a:avLst/>
          </a:prstGeom>
          <a:solidFill>
            <a:srgbClr val="FFFFFF"/>
          </a:solidFill>
          <a:ln w="9525">
            <a:solidFill>
              <a:srgbClr val="D8E1E8"/>
            </a:solidFill>
          </a:ln>
        </p:spPr>
      </p:sp>
      <p:sp>
        <p:nvSpPr>
          <p:cNvPr id="29" name="Rectangle 28">
            <a:extLst>
              <a:ext uri="{FF2B5EF4-FFF2-40B4-BE49-F238E27FC236}">
                <a16:creationId xmlns:a16="http://schemas.microsoft.com/office/drawing/2014/main" id="{4F30DE6B-0588-48F5-B27B-1867E275D2FE}"/>
              </a:ext>
            </a:extLst>
          </p:cNvPr>
          <p:cNvSpPr>
            <a:spLocks noGrp="1"/>
          </p:cNvSpPr>
          <p:nvPr/>
        </p:nvSpPr>
        <p:spPr>
          <a:xfrm>
            <a:off x="6362700" y="3924300"/>
            <a:ext cx="2324100" cy="361950"/>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07  Validate / IK</a:t>
            </a:r>
          </a:p>
        </p:txBody>
      </p:sp>
      <p:sp>
        <p:nvSpPr>
          <p:cNvPr id="30" name="Rectangle 29">
            <a:extLst>
              <a:ext uri="{FF2B5EF4-FFF2-40B4-BE49-F238E27FC236}">
                <a16:creationId xmlns:a16="http://schemas.microsoft.com/office/drawing/2014/main" id="{A40C8722-245A-4635-B4E8-F19583074FF4}"/>
              </a:ext>
            </a:extLst>
          </p:cNvPr>
          <p:cNvSpPr>
            <a:spLocks noGrp="1"/>
          </p:cNvSpPr>
          <p:nvPr/>
        </p:nvSpPr>
        <p:spPr>
          <a:xfrm>
            <a:off x="6362700" y="4400550"/>
            <a:ext cx="2324100" cy="4000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Solve reachable poses</a:t>
            </a:r>
          </a:p>
        </p:txBody>
      </p:sp>
      <p:sp>
        <p:nvSpPr>
          <p:cNvPr id="31" name="Arrow: Right 30">
            <a:extLst>
              <a:ext uri="{FF2B5EF4-FFF2-40B4-BE49-F238E27FC236}">
                <a16:creationId xmlns:a16="http://schemas.microsoft.com/office/drawing/2014/main" id="{2BD114E8-37D3-419A-8094-92A96A1E956D}"/>
              </a:ext>
            </a:extLst>
          </p:cNvPr>
          <p:cNvSpPr>
            <a:spLocks noGrp="1"/>
          </p:cNvSpPr>
          <p:nvPr/>
        </p:nvSpPr>
        <p:spPr>
          <a:xfrm>
            <a:off x="8858250" y="4267200"/>
            <a:ext cx="161925" cy="152400"/>
          </a:xfrm>
          <a:prstGeom prst="rightArrow">
            <a:avLst/>
          </a:prstGeom>
          <a:solidFill>
            <a:srgbClr val="167A91"/>
          </a:solidFill>
          <a:ln w="0">
            <a:noFill/>
          </a:ln>
        </p:spPr>
      </p:sp>
      <p:sp>
        <p:nvSpPr>
          <p:cNvPr id="32" name="Rectangle 31">
            <a:extLst>
              <a:ext uri="{FF2B5EF4-FFF2-40B4-BE49-F238E27FC236}">
                <a16:creationId xmlns:a16="http://schemas.microsoft.com/office/drawing/2014/main" id="{A5DF1A0D-EC8F-4855-AD6F-9E5582A9174B}"/>
              </a:ext>
            </a:extLst>
          </p:cNvPr>
          <p:cNvSpPr>
            <a:spLocks noGrp="1"/>
          </p:cNvSpPr>
          <p:nvPr/>
        </p:nvSpPr>
        <p:spPr>
          <a:xfrm>
            <a:off x="9048750" y="3762375"/>
            <a:ext cx="2609850" cy="1190625"/>
          </a:xfrm>
          <a:prstGeom prst="rect">
            <a:avLst/>
          </a:prstGeom>
          <a:solidFill>
            <a:srgbClr val="FFFFFF"/>
          </a:solidFill>
          <a:ln w="9525">
            <a:solidFill>
              <a:srgbClr val="D8E1E8"/>
            </a:solidFill>
          </a:ln>
        </p:spPr>
      </p:sp>
      <p:sp>
        <p:nvSpPr>
          <p:cNvPr id="33" name="Rectangle 32">
            <a:extLst>
              <a:ext uri="{FF2B5EF4-FFF2-40B4-BE49-F238E27FC236}">
                <a16:creationId xmlns:a16="http://schemas.microsoft.com/office/drawing/2014/main" id="{F1D108D6-C306-48BB-8BF1-B52B89CE3243}"/>
              </a:ext>
            </a:extLst>
          </p:cNvPr>
          <p:cNvSpPr>
            <a:spLocks noGrp="1"/>
          </p:cNvSpPr>
          <p:nvPr/>
        </p:nvSpPr>
        <p:spPr>
          <a:xfrm>
            <a:off x="9201150" y="3924300"/>
            <a:ext cx="2324100" cy="361950"/>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08  Control</a:t>
            </a:r>
          </a:p>
        </p:txBody>
      </p:sp>
      <p:sp>
        <p:nvSpPr>
          <p:cNvPr id="34" name="Rectangle 33">
            <a:extLst>
              <a:ext uri="{FF2B5EF4-FFF2-40B4-BE49-F238E27FC236}">
                <a16:creationId xmlns:a16="http://schemas.microsoft.com/office/drawing/2014/main" id="{AEC3F023-E1F1-4D9F-A441-FEA6E135B4BC}"/>
              </a:ext>
            </a:extLst>
          </p:cNvPr>
          <p:cNvSpPr>
            <a:spLocks noGrp="1"/>
          </p:cNvSpPr>
          <p:nvPr/>
        </p:nvSpPr>
        <p:spPr>
          <a:xfrm>
            <a:off x="9201150" y="4400550"/>
            <a:ext cx="2324100" cy="4000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Execute physical grasp</a:t>
            </a:r>
          </a:p>
        </p:txBody>
      </p:sp>
      <p:sp>
        <p:nvSpPr>
          <p:cNvPr id="35" name="Rectangle 34">
            <a:extLst>
              <a:ext uri="{FF2B5EF4-FFF2-40B4-BE49-F238E27FC236}">
                <a16:creationId xmlns:a16="http://schemas.microsoft.com/office/drawing/2014/main" id="{ABB19B33-0C1D-49E1-920F-CBF29CD85394}"/>
              </a:ext>
            </a:extLst>
          </p:cNvPr>
          <p:cNvSpPr>
            <a:spLocks noGrp="1"/>
          </p:cNvSpPr>
          <p:nvPr/>
        </p:nvSpPr>
        <p:spPr>
          <a:xfrm>
            <a:off x="533400" y="1438275"/>
            <a:ext cx="5429250" cy="285750"/>
          </a:xfrm>
          <a:prstGeom prst="rect">
            <a:avLst/>
          </a:prstGeom>
          <a:noFill/>
          <a:ln w="0">
            <a:noFill/>
          </a:ln>
        </p:spPr>
        <p:txBody>
          <a:bodyPr wrap="square" lIns="0" tIns="0" rIns="0" bIns="0">
            <a:noAutofit/>
          </a:bodyPr>
          <a:lstStyle>
            <a:defPPr>
              <a:defRPr sz="1650" b="1">
                <a:solidFill>
                  <a:srgbClr val="536373"/>
                </a:solidFill>
                <a:latin typeface="Arial"/>
                <a:ea typeface="Arial"/>
                <a:cs typeface="Arial"/>
              </a:defRPr>
            </a:defPPr>
          </a:lstStyle>
          <a:p>
            <a:pPr>
              <a:buNone/>
              <a:defRPr sz="1650" b="1">
                <a:solidFill>
                  <a:srgbClr val="536373"/>
                </a:solidFill>
                <a:latin typeface="Arial"/>
                <a:ea typeface="Arial"/>
                <a:cs typeface="Arial"/>
              </a:defRPr>
            </a:pPr>
            <a:r>
              <a:rPr sz="1650" b="1">
                <a:solidFill>
                  <a:srgbClr val="536373"/>
                </a:solidFill>
                <a:latin typeface="Arial"/>
                <a:ea typeface="Arial"/>
                <a:cs typeface="Arial"/>
              </a:rPr>
              <a:t>Image processing</a:t>
            </a:r>
          </a:p>
        </p:txBody>
      </p:sp>
      <p:sp>
        <p:nvSpPr>
          <p:cNvPr id="36" name="Rectangle 35">
            <a:extLst>
              <a:ext uri="{FF2B5EF4-FFF2-40B4-BE49-F238E27FC236}">
                <a16:creationId xmlns:a16="http://schemas.microsoft.com/office/drawing/2014/main" id="{BD73F4D4-6CEA-4F4B-B283-A1116E15BE2F}"/>
              </a:ext>
            </a:extLst>
          </p:cNvPr>
          <p:cNvSpPr>
            <a:spLocks noGrp="1"/>
          </p:cNvSpPr>
          <p:nvPr/>
        </p:nvSpPr>
        <p:spPr>
          <a:xfrm>
            <a:off x="533400" y="3362325"/>
            <a:ext cx="7143750" cy="304800"/>
          </a:xfrm>
          <a:prstGeom prst="rect">
            <a:avLst/>
          </a:prstGeom>
          <a:noFill/>
          <a:ln w="0">
            <a:noFill/>
          </a:ln>
        </p:spPr>
        <p:txBody>
          <a:bodyPr wrap="square" lIns="0" tIns="0" rIns="0" bIns="0">
            <a:noAutofit/>
          </a:bodyPr>
          <a:lstStyle>
            <a:defPPr>
              <a:defRPr sz="1650" b="1">
                <a:solidFill>
                  <a:srgbClr val="536373"/>
                </a:solidFill>
                <a:latin typeface="Arial"/>
                <a:ea typeface="Arial"/>
                <a:cs typeface="Arial"/>
              </a:defRPr>
            </a:defPPr>
          </a:lstStyle>
          <a:p>
            <a:pPr>
              <a:buNone/>
              <a:defRPr sz="1650" b="1">
                <a:solidFill>
                  <a:srgbClr val="536373"/>
                </a:solidFill>
                <a:latin typeface="Arial"/>
                <a:ea typeface="Arial"/>
                <a:cs typeface="Arial"/>
              </a:defRPr>
            </a:pPr>
            <a:r>
              <a:rPr sz="1650" b="1">
                <a:solidFill>
                  <a:srgbClr val="536373"/>
                </a:solidFill>
                <a:latin typeface="Arial"/>
                <a:ea typeface="Arial"/>
                <a:cs typeface="Arial"/>
              </a:rPr>
              <a:t>Perception and robot movement</a:t>
            </a:r>
          </a:p>
        </p:txBody>
      </p:sp>
      <p:sp>
        <p:nvSpPr>
          <p:cNvPr id="37" name="Rectangle 36">
            <a:extLst>
              <a:ext uri="{FF2B5EF4-FFF2-40B4-BE49-F238E27FC236}">
                <a16:creationId xmlns:a16="http://schemas.microsoft.com/office/drawing/2014/main" id="{BB0B707A-C423-443B-B34F-26B491AEE39B}"/>
              </a:ext>
            </a:extLst>
          </p:cNvPr>
          <p:cNvSpPr>
            <a:spLocks noGrp="1"/>
          </p:cNvSpPr>
          <p:nvPr/>
        </p:nvSpPr>
        <p:spPr>
          <a:xfrm>
            <a:off x="533400" y="5600700"/>
            <a:ext cx="11125200" cy="533400"/>
          </a:xfrm>
          <a:prstGeom prst="rect">
            <a:avLst/>
          </a:prstGeom>
          <a:noFill/>
          <a:ln w="0">
            <a:noFill/>
          </a:ln>
        </p:spPr>
        <p:txBody>
          <a:bodyPr wrap="square" lIns="0" tIns="0" rIns="0" bIns="0">
            <a:noAutofit/>
          </a:bodyPr>
          <a:lstStyle>
            <a:defPPr>
              <a:defRPr sz="2100" b="1">
                <a:solidFill>
                  <a:srgbClr val="172D45"/>
                </a:solidFill>
                <a:latin typeface="Arial"/>
                <a:ea typeface="Arial"/>
                <a:cs typeface="Arial"/>
              </a:defRPr>
            </a:defPPr>
          </a:lstStyle>
          <a:p>
            <a:pPr>
              <a:buNone/>
              <a:defRPr sz="2100" b="1">
                <a:solidFill>
                  <a:srgbClr val="172D45"/>
                </a:solidFill>
                <a:latin typeface="Arial"/>
                <a:ea typeface="Arial"/>
                <a:cs typeface="Arial"/>
              </a:defRPr>
            </a:pPr>
            <a:r>
              <a:rPr sz="2100" b="1">
                <a:solidFill>
                  <a:srgbClr val="172D45"/>
                </a:solidFill>
                <a:latin typeface="Arial"/>
                <a:ea typeface="Arial"/>
                <a:cs typeface="Arial"/>
              </a:rPr>
              <a:t>The robot moves only after a selected region and its estimated pose pass validation.</a:t>
            </a:r>
          </a:p>
        </p:txBody>
      </p:sp>
    </p:spTree>
    <p:extLst>
      <p:ext uri="{BB962C8B-B14F-4D97-AF65-F5344CB8AC3E}">
        <p14:creationId xmlns:p14="http://schemas.microsoft.com/office/powerpoint/2010/main" val="323306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8568C9-768A-4627-A8E4-8D961D09D7CD}"/>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defRPr sz="3000" b="1">
                <a:solidFill>
                  <a:srgbClr val="172D45"/>
                </a:solidFill>
                <a:latin typeface="Arial"/>
                <a:ea typeface="Arial"/>
                <a:cs typeface="Arial"/>
              </a:defRPr>
            </a:defPPr>
          </a:lstStyle>
          <a:p>
            <a:pPr>
              <a:buNone/>
              <a:defRPr sz="3000" b="1">
                <a:solidFill>
                  <a:srgbClr val="172D45"/>
                </a:solidFill>
                <a:latin typeface="Arial"/>
                <a:ea typeface="Arial"/>
                <a:cs typeface="Arial"/>
              </a:defRPr>
            </a:pPr>
            <a:r>
              <a:rPr sz="3000" b="1">
                <a:solidFill>
                  <a:srgbClr val="172D45"/>
                </a:solidFill>
                <a:latin typeface="Arial"/>
                <a:ea typeface="Arial"/>
                <a:cs typeface="Arial"/>
              </a:rPr>
              <a:t>A calibrated scene with selectable targets</a:t>
            </a:r>
          </a:p>
        </p:txBody>
      </p:sp>
      <p:sp>
        <p:nvSpPr>
          <p:cNvPr id="2" name="Rectangle 1">
            <a:extLst>
              <a:ext uri="{FF2B5EF4-FFF2-40B4-BE49-F238E27FC236}">
                <a16:creationId xmlns:a16="http://schemas.microsoft.com/office/drawing/2014/main" id="{29A84378-AD1D-4A34-BAD1-70BBF5B6A7DA}"/>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3" name="Rectangle 2">
            <a:extLst>
              <a:ext uri="{FF2B5EF4-FFF2-40B4-BE49-F238E27FC236}">
                <a16:creationId xmlns:a16="http://schemas.microsoft.com/office/drawing/2014/main" id="{0E64F35B-3139-4E3E-AB3A-A6D6A99AE8A8}"/>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defRPr sz="1125" b="0">
                <a:solidFill>
                  <a:srgbClr val="536373"/>
                </a:solidFill>
                <a:latin typeface="Arial"/>
                <a:ea typeface="Arial"/>
                <a:cs typeface="Arial"/>
              </a:defRPr>
            </a:defPPr>
          </a:lstStyle>
          <a:p>
            <a:pPr>
              <a:buNone/>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4" name="Rectangle 3">
            <a:extLst>
              <a:ext uri="{FF2B5EF4-FFF2-40B4-BE49-F238E27FC236}">
                <a16:creationId xmlns:a16="http://schemas.microsoft.com/office/drawing/2014/main" id="{2C96F30B-511C-472A-AC66-8953C63E36B2}"/>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defRPr sz="1275" b="1">
                <a:solidFill>
                  <a:srgbClr val="167A91"/>
                </a:solidFill>
                <a:latin typeface="Arial"/>
                <a:ea typeface="Arial"/>
                <a:cs typeface="Arial"/>
              </a:defRPr>
            </a:defPPr>
          </a:lstStyle>
          <a:p>
            <a:pPr>
              <a:buNone/>
              <a:defRPr sz="1275" b="1">
                <a:solidFill>
                  <a:srgbClr val="167A91"/>
                </a:solidFill>
                <a:latin typeface="Arial"/>
                <a:ea typeface="Arial"/>
                <a:cs typeface="Arial"/>
              </a:defRPr>
            </a:pPr>
            <a:r>
              <a:rPr sz="1275" b="1">
                <a:solidFill>
                  <a:srgbClr val="167A91"/>
                </a:solidFill>
                <a:latin typeface="Arial"/>
                <a:ea typeface="Arial"/>
                <a:cs typeface="Arial"/>
              </a:rPr>
              <a:t>03</a:t>
            </a:r>
          </a:p>
        </p:txBody>
      </p:sp>
      <p:pic>
        <p:nvPicPr>
          <p:cNvPr id="5" name="Picture 4">
            <a:extLst>
              <a:ext uri="{FF2B5EF4-FFF2-40B4-BE49-F238E27FC236}">
                <a16:creationId xmlns:a16="http://schemas.microsoft.com/office/drawing/2014/main" id="{EB8E0067-EF15-40FB-AC0D-BE543E9ABDBD}"/>
              </a:ext>
            </a:extLst>
          </p:cNvPr>
          <p:cNvPicPr>
            <a:picLocks noChangeAspect="1"/>
          </p:cNvPicPr>
          <p:nvPr/>
        </p:nvPicPr>
        <p:blipFill>
          <a:blip r:embed="rId3"/>
          <a:stretch/>
        </p:blipFill>
        <p:spPr>
          <a:xfrm>
            <a:off x="533400" y="1457325"/>
            <a:ext cx="6248400" cy="4686300"/>
          </a:xfrm>
          <a:prstGeom prst="rect">
            <a:avLst/>
          </a:prstGeom>
        </p:spPr>
      </p:pic>
      <p:sp>
        <p:nvSpPr>
          <p:cNvPr id="6" name="Rectangle 5">
            <a:extLst>
              <a:ext uri="{FF2B5EF4-FFF2-40B4-BE49-F238E27FC236}">
                <a16:creationId xmlns:a16="http://schemas.microsoft.com/office/drawing/2014/main" id="{5DDD42DA-4303-4FBC-91BD-753B1F28014F}"/>
              </a:ext>
            </a:extLst>
          </p:cNvPr>
          <p:cNvSpPr>
            <a:spLocks noGrp="1"/>
          </p:cNvSpPr>
          <p:nvPr/>
        </p:nvSpPr>
        <p:spPr>
          <a:xfrm>
            <a:off x="7162800" y="1562100"/>
            <a:ext cx="4267200" cy="857250"/>
          </a:xfrm>
          <a:prstGeom prst="rect">
            <a:avLst/>
          </a:prstGeom>
          <a:noFill/>
          <a:ln w="0">
            <a:noFill/>
          </a:ln>
        </p:spPr>
        <p:txBody>
          <a:bodyPr wrap="square" lIns="0" tIns="0" rIns="0" bIns="0">
            <a:noAutofit/>
          </a:bodyPr>
          <a:lstStyle>
            <a:defPPr>
              <a:defRPr sz="2325" b="1">
                <a:solidFill>
                  <a:srgbClr val="172D45"/>
                </a:solidFill>
                <a:latin typeface="Arial"/>
                <a:ea typeface="Arial"/>
                <a:cs typeface="Arial"/>
              </a:defRPr>
            </a:defPPr>
          </a:lstStyle>
          <a:p>
            <a:pPr>
              <a:buNone/>
              <a:defRPr sz="2325" b="1">
                <a:solidFill>
                  <a:srgbClr val="172D45"/>
                </a:solidFill>
                <a:latin typeface="Arial"/>
                <a:ea typeface="Arial"/>
                <a:cs typeface="Arial"/>
              </a:defRPr>
            </a:pPr>
            <a:r>
              <a:rPr sz="2325" b="1">
                <a:solidFill>
                  <a:srgbClr val="172D45"/>
                </a:solidFill>
                <a:latin typeface="Arial"/>
                <a:ea typeface="Arial"/>
                <a:cs typeface="Arial"/>
              </a:rPr>
              <a:t>Four visible boxes</a:t>
            </a:r>
          </a:p>
          <a:p>
            <a:pPr>
              <a:buNone/>
              <a:defRPr sz="2325" b="1">
                <a:solidFill>
                  <a:srgbClr val="172D45"/>
                </a:solidFill>
                <a:latin typeface="Arial"/>
                <a:ea typeface="Arial"/>
                <a:cs typeface="Arial"/>
              </a:defRPr>
            </a:pPr>
            <a:r>
              <a:rPr sz="2325" b="1">
                <a:solidFill>
                  <a:srgbClr val="172D45"/>
                </a:solidFill>
                <a:latin typeface="Arial"/>
                <a:ea typeface="Arial"/>
                <a:cs typeface="Arial"/>
              </a:rPr>
              <a:t>Two blue instances</a:t>
            </a:r>
          </a:p>
        </p:txBody>
      </p:sp>
      <p:sp>
        <p:nvSpPr>
          <p:cNvPr id="7" name="Rectangle 6">
            <a:extLst>
              <a:ext uri="{FF2B5EF4-FFF2-40B4-BE49-F238E27FC236}">
                <a16:creationId xmlns:a16="http://schemas.microsoft.com/office/drawing/2014/main" id="{8CDED8DB-0C64-468A-B1D2-56F69E1FB039}"/>
              </a:ext>
            </a:extLst>
          </p:cNvPr>
          <p:cNvSpPr>
            <a:spLocks noGrp="1"/>
          </p:cNvSpPr>
          <p:nvPr/>
        </p:nvSpPr>
        <p:spPr>
          <a:xfrm>
            <a:off x="7162800" y="2714625"/>
            <a:ext cx="4267200" cy="809625"/>
          </a:xfrm>
          <a:prstGeom prst="rect">
            <a:avLst/>
          </a:prstGeom>
          <a:noFill/>
          <a:ln w="0">
            <a:noFill/>
          </a:ln>
        </p:spPr>
        <p:txBody>
          <a:bodyPr wrap="square" lIns="0" tIns="0" rIns="0" bIns="0">
            <a:noAutofit/>
          </a:bodyPr>
          <a:lstStyle>
            <a:defPPr>
              <a:defRPr sz="1950" b="0">
                <a:solidFill>
                  <a:srgbClr val="172D45"/>
                </a:solidFill>
                <a:latin typeface="Arial"/>
                <a:ea typeface="Arial"/>
                <a:cs typeface="Arial"/>
              </a:defRPr>
            </a:defPPr>
          </a:lstStyle>
          <a:p>
            <a:pPr>
              <a:buNone/>
              <a:defRPr sz="1950" b="0">
                <a:solidFill>
                  <a:srgbClr val="172D45"/>
                </a:solidFill>
                <a:latin typeface="Arial"/>
                <a:ea typeface="Arial"/>
                <a:cs typeface="Arial"/>
              </a:defRPr>
            </a:pPr>
            <a:r>
              <a:rPr sz="1950" b="0">
                <a:solidFill>
                  <a:srgbClr val="172D45"/>
                </a:solidFill>
                <a:latin typeface="Arial"/>
                <a:ea typeface="Arial"/>
                <a:cs typeface="Arial"/>
              </a:rPr>
              <a:t>Choose color. Click an instance</a:t>
            </a:r>
          </a:p>
          <a:p>
            <a:pPr>
              <a:buNone/>
              <a:defRPr sz="1950" b="0">
                <a:solidFill>
                  <a:srgbClr val="172D45"/>
                </a:solidFill>
                <a:latin typeface="Arial"/>
                <a:ea typeface="Arial"/>
                <a:cs typeface="Arial"/>
              </a:defRPr>
            </a:pPr>
            <a:r>
              <a:rPr sz="1950" b="0">
                <a:solidFill>
                  <a:srgbClr val="172D45"/>
                </a:solidFill>
                <a:latin typeface="Arial"/>
                <a:ea typeface="Arial"/>
                <a:cs typeface="Arial"/>
              </a:rPr>
              <a:t>when multiple regions match.</a:t>
            </a:r>
          </a:p>
        </p:txBody>
      </p:sp>
      <p:sp>
        <p:nvSpPr>
          <p:cNvPr id="8" name="Rectangle 7">
            <a:extLst>
              <a:ext uri="{FF2B5EF4-FFF2-40B4-BE49-F238E27FC236}">
                <a16:creationId xmlns:a16="http://schemas.microsoft.com/office/drawing/2014/main" id="{68A232D9-D8ED-4E7C-A331-C8F81040D80A}"/>
              </a:ext>
            </a:extLst>
          </p:cNvPr>
          <p:cNvSpPr>
            <a:spLocks noGrp="1"/>
          </p:cNvSpPr>
          <p:nvPr/>
        </p:nvSpPr>
        <p:spPr>
          <a:xfrm>
            <a:off x="7162800" y="3829050"/>
            <a:ext cx="4267200" cy="857250"/>
          </a:xfrm>
          <a:prstGeom prst="rect">
            <a:avLst/>
          </a:prstGeom>
          <a:noFill/>
          <a:ln w="0">
            <a:noFill/>
          </a:ln>
        </p:spPr>
        <p:txBody>
          <a:bodyPr wrap="square" lIns="0" tIns="0" rIns="0" bIns="0">
            <a:noAutofit/>
          </a:bodyPr>
          <a:lstStyle>
            <a:defPPr>
              <a:defRPr sz="1875" b="0">
                <a:solidFill>
                  <a:srgbClr val="172D45"/>
                </a:solidFill>
                <a:latin typeface="Arial"/>
                <a:ea typeface="Arial"/>
                <a:cs typeface="Arial"/>
              </a:defRPr>
            </a:defPPr>
          </a:lstStyle>
          <a:p>
            <a:pPr>
              <a:buNone/>
              <a:defRPr sz="1875" b="0">
                <a:solidFill>
                  <a:srgbClr val="172D45"/>
                </a:solidFill>
                <a:latin typeface="Arial"/>
                <a:ea typeface="Arial"/>
                <a:cs typeface="Arial"/>
              </a:defRPr>
            </a:pPr>
            <a:r>
              <a:rPr sz="1875" b="0">
                <a:solidFill>
                  <a:srgbClr val="172D45"/>
                </a:solidFill>
                <a:latin typeface="Arial"/>
                <a:ea typeface="Arial"/>
                <a:cs typeface="Arial"/>
              </a:rPr>
              <a:t>Fixed overhead RGB camera</a:t>
            </a:r>
          </a:p>
          <a:p>
            <a:pPr>
              <a:buNone/>
              <a:defRPr sz="1875" b="0">
                <a:solidFill>
                  <a:srgbClr val="172D45"/>
                </a:solidFill>
                <a:latin typeface="Arial"/>
                <a:ea typeface="Arial"/>
                <a:cs typeface="Arial"/>
              </a:defRPr>
            </a:pPr>
            <a:r>
              <a:rPr sz="1875" b="0">
                <a:solidFill>
                  <a:srgbClr val="172D45"/>
                </a:solidFill>
                <a:latin typeface="Arial"/>
                <a:ea typeface="Arial"/>
                <a:cs typeface="Arial"/>
              </a:rPr>
              <a:t>640 x 480 pixels | 45° vertical FOV</a:t>
            </a:r>
          </a:p>
        </p:txBody>
      </p:sp>
      <p:sp>
        <p:nvSpPr>
          <p:cNvPr id="9" name="Rectangle 8">
            <a:extLst>
              <a:ext uri="{FF2B5EF4-FFF2-40B4-BE49-F238E27FC236}">
                <a16:creationId xmlns:a16="http://schemas.microsoft.com/office/drawing/2014/main" id="{5E334E0D-D759-4E49-98A5-8D66006CA49F}"/>
              </a:ext>
            </a:extLst>
          </p:cNvPr>
          <p:cNvSpPr>
            <a:spLocks noGrp="1"/>
          </p:cNvSpPr>
          <p:nvPr/>
        </p:nvSpPr>
        <p:spPr>
          <a:xfrm>
            <a:off x="7162800" y="5067300"/>
            <a:ext cx="4267200" cy="857250"/>
          </a:xfrm>
          <a:prstGeom prst="rect">
            <a:avLst/>
          </a:prstGeom>
          <a:noFill/>
          <a:ln w="0">
            <a:noFill/>
          </a:ln>
        </p:spPr>
        <p:txBody>
          <a:bodyPr wrap="square" lIns="0" tIns="0" rIns="0" bIns="0">
            <a:noAutofit/>
          </a:bodyPr>
          <a:lstStyle>
            <a:defPPr>
              <a:defRPr sz="1875" b="0">
                <a:solidFill>
                  <a:srgbClr val="167A91"/>
                </a:solidFill>
                <a:latin typeface="Arial"/>
                <a:ea typeface="Arial"/>
                <a:cs typeface="Arial"/>
              </a:defRPr>
            </a:defPPr>
          </a:lstStyle>
          <a:p>
            <a:pPr>
              <a:buNone/>
              <a:defRPr sz="1875" b="0">
                <a:solidFill>
                  <a:srgbClr val="167A91"/>
                </a:solidFill>
                <a:latin typeface="Arial"/>
                <a:ea typeface="Arial"/>
                <a:cs typeface="Arial"/>
              </a:defRPr>
            </a:pPr>
            <a:r>
              <a:rPr sz="1875" b="0">
                <a:solidFill>
                  <a:srgbClr val="167A91"/>
                </a:solidFill>
                <a:latin typeface="Arial"/>
                <a:ea typeface="Arial"/>
                <a:cs typeface="Arial"/>
              </a:rPr>
              <a:t>Conservative workspace</a:t>
            </a:r>
          </a:p>
          <a:p>
            <a:pPr>
              <a:buNone/>
              <a:defRPr sz="1875" b="0">
                <a:solidFill>
                  <a:srgbClr val="167A91"/>
                </a:solidFill>
                <a:latin typeface="Arial"/>
                <a:ea typeface="Arial"/>
                <a:cs typeface="Arial"/>
              </a:defRPr>
            </a:pPr>
            <a:r>
              <a:rPr sz="1875" b="0">
                <a:solidFill>
                  <a:srgbClr val="167A91"/>
                </a:solidFill>
                <a:latin typeface="Arial"/>
                <a:ea typeface="Arial"/>
                <a:cs typeface="Arial"/>
              </a:rPr>
              <a:t>Every requested pose gets an IK check.</a:t>
            </a:r>
          </a:p>
        </p:txBody>
      </p:sp>
    </p:spTree>
    <p:extLst>
      <p:ext uri="{BB962C8B-B14F-4D97-AF65-F5344CB8AC3E}">
        <p14:creationId xmlns:p14="http://schemas.microsoft.com/office/powerpoint/2010/main" val="819133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CB8F61-1833-432B-862B-90934FF1DB1E}"/>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defRPr sz="3000" b="1">
                <a:solidFill>
                  <a:srgbClr val="172D45"/>
                </a:solidFill>
                <a:latin typeface="Arial"/>
                <a:ea typeface="Arial"/>
                <a:cs typeface="Arial"/>
              </a:defRPr>
            </a:defPPr>
          </a:lstStyle>
          <a:p>
            <a:pPr>
              <a:buNone/>
              <a:defRPr sz="3000" b="1">
                <a:solidFill>
                  <a:srgbClr val="172D45"/>
                </a:solidFill>
                <a:latin typeface="Arial"/>
                <a:ea typeface="Arial"/>
                <a:cs typeface="Arial"/>
              </a:defRPr>
            </a:pPr>
            <a:r>
              <a:rPr sz="3000" b="1">
                <a:solidFill>
                  <a:srgbClr val="172D45"/>
                </a:solidFill>
                <a:latin typeface="Arial"/>
                <a:ea typeface="Arial"/>
                <a:cs typeface="Arial"/>
              </a:rPr>
              <a:t>Median filtering reduces simulated noise</a:t>
            </a:r>
          </a:p>
        </p:txBody>
      </p:sp>
      <p:sp>
        <p:nvSpPr>
          <p:cNvPr id="2" name="Rectangle 1">
            <a:extLst>
              <a:ext uri="{FF2B5EF4-FFF2-40B4-BE49-F238E27FC236}">
                <a16:creationId xmlns:a16="http://schemas.microsoft.com/office/drawing/2014/main" id="{C5CA361D-D9E0-44CC-82EE-CEF0EF22898D}"/>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3" name="Rectangle 2">
            <a:extLst>
              <a:ext uri="{FF2B5EF4-FFF2-40B4-BE49-F238E27FC236}">
                <a16:creationId xmlns:a16="http://schemas.microsoft.com/office/drawing/2014/main" id="{CFFC3A54-F245-492E-AAF8-B7FB9454C0FE}"/>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defRPr sz="1125" b="0">
                <a:solidFill>
                  <a:srgbClr val="536373"/>
                </a:solidFill>
                <a:latin typeface="Arial"/>
                <a:ea typeface="Arial"/>
                <a:cs typeface="Arial"/>
              </a:defRPr>
            </a:defPPr>
          </a:lstStyle>
          <a:p>
            <a:pPr>
              <a:buNone/>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4" name="Rectangle 3">
            <a:extLst>
              <a:ext uri="{FF2B5EF4-FFF2-40B4-BE49-F238E27FC236}">
                <a16:creationId xmlns:a16="http://schemas.microsoft.com/office/drawing/2014/main" id="{BB800532-CD20-4A8E-9710-8E2A885B4557}"/>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defRPr sz="1275" b="1">
                <a:solidFill>
                  <a:srgbClr val="167A91"/>
                </a:solidFill>
                <a:latin typeface="Arial"/>
                <a:ea typeface="Arial"/>
                <a:cs typeface="Arial"/>
              </a:defRPr>
            </a:defPPr>
          </a:lstStyle>
          <a:p>
            <a:pPr>
              <a:buNone/>
              <a:defRPr sz="1275" b="1">
                <a:solidFill>
                  <a:srgbClr val="167A91"/>
                </a:solidFill>
                <a:latin typeface="Arial"/>
                <a:ea typeface="Arial"/>
                <a:cs typeface="Arial"/>
              </a:defRPr>
            </a:pPr>
            <a:r>
              <a:rPr sz="1275" b="1">
                <a:solidFill>
                  <a:srgbClr val="167A91"/>
                </a:solidFill>
                <a:latin typeface="Arial"/>
                <a:ea typeface="Arial"/>
                <a:cs typeface="Arial"/>
              </a:rPr>
              <a:t>04</a:t>
            </a:r>
          </a:p>
        </p:txBody>
      </p:sp>
      <p:sp>
        <p:nvSpPr>
          <p:cNvPr id="5" name="Rectangle 4">
            <a:extLst>
              <a:ext uri="{FF2B5EF4-FFF2-40B4-BE49-F238E27FC236}">
                <a16:creationId xmlns:a16="http://schemas.microsoft.com/office/drawing/2014/main" id="{6BDF2150-4642-43F8-B4B2-3AA64CECEBF8}"/>
              </a:ext>
            </a:extLst>
          </p:cNvPr>
          <p:cNvSpPr>
            <a:spLocks noGrp="1"/>
          </p:cNvSpPr>
          <p:nvPr/>
        </p:nvSpPr>
        <p:spPr>
          <a:xfrm>
            <a:off x="533400" y="1438275"/>
            <a:ext cx="5391150" cy="342900"/>
          </a:xfrm>
          <a:prstGeom prst="rect">
            <a:avLst/>
          </a:prstGeom>
          <a:noFill/>
          <a:ln w="0">
            <a:noFill/>
          </a:ln>
        </p:spPr>
        <p:txBody>
          <a:bodyPr wrap="square" lIns="0" tIns="0" rIns="0" bIns="0">
            <a:noAutofit/>
          </a:bodyPr>
          <a:lstStyle>
            <a:defPPr>
              <a:defRPr sz="1875" b="1">
                <a:solidFill>
                  <a:srgbClr val="172D45"/>
                </a:solidFill>
                <a:latin typeface="Arial"/>
                <a:ea typeface="Arial"/>
                <a:cs typeface="Arial"/>
              </a:defRPr>
            </a:defPPr>
          </a:lstStyle>
          <a:p>
            <a:pPr>
              <a:buNone/>
              <a:defRPr sz="1875" b="1">
                <a:solidFill>
                  <a:srgbClr val="172D45"/>
                </a:solidFill>
                <a:latin typeface="Arial"/>
                <a:ea typeface="Arial"/>
                <a:cs typeface="Arial"/>
              </a:defRPr>
            </a:pPr>
            <a:r>
              <a:rPr sz="1875" b="1">
                <a:solidFill>
                  <a:srgbClr val="172D45"/>
                </a:solidFill>
                <a:latin typeface="Arial"/>
                <a:ea typeface="Arial"/>
                <a:cs typeface="Arial"/>
              </a:rPr>
              <a:t>Simulated salt-and-pepper noise: 8%</a:t>
            </a:r>
          </a:p>
        </p:txBody>
      </p:sp>
      <p:sp>
        <p:nvSpPr>
          <p:cNvPr id="6" name="Rectangle 5">
            <a:extLst>
              <a:ext uri="{FF2B5EF4-FFF2-40B4-BE49-F238E27FC236}">
                <a16:creationId xmlns:a16="http://schemas.microsoft.com/office/drawing/2014/main" id="{48892540-63D8-43E5-867B-36D1459B8D6D}"/>
              </a:ext>
            </a:extLst>
          </p:cNvPr>
          <p:cNvSpPr>
            <a:spLocks noGrp="1"/>
          </p:cNvSpPr>
          <p:nvPr/>
        </p:nvSpPr>
        <p:spPr>
          <a:xfrm>
            <a:off x="6267450" y="1438275"/>
            <a:ext cx="5391150" cy="342900"/>
          </a:xfrm>
          <a:prstGeom prst="rect">
            <a:avLst/>
          </a:prstGeom>
          <a:noFill/>
          <a:ln w="0">
            <a:noFill/>
          </a:ln>
        </p:spPr>
        <p:txBody>
          <a:bodyPr wrap="square" lIns="0" tIns="0" rIns="0" bIns="0">
            <a:noAutofit/>
          </a:bodyPr>
          <a:lstStyle>
            <a:defPPr>
              <a:defRPr sz="1875" b="1">
                <a:solidFill>
                  <a:srgbClr val="172D45"/>
                </a:solidFill>
                <a:latin typeface="Arial"/>
                <a:ea typeface="Arial"/>
                <a:cs typeface="Arial"/>
              </a:defRPr>
            </a:defPPr>
          </a:lstStyle>
          <a:p>
            <a:pPr>
              <a:buNone/>
              <a:defRPr sz="1875" b="1">
                <a:solidFill>
                  <a:srgbClr val="172D45"/>
                </a:solidFill>
                <a:latin typeface="Arial"/>
                <a:ea typeface="Arial"/>
                <a:cs typeface="Arial"/>
              </a:defRPr>
            </a:pPr>
            <a:r>
              <a:rPr sz="1875" b="1">
                <a:solidFill>
                  <a:srgbClr val="172D45"/>
                </a:solidFill>
                <a:latin typeface="Arial"/>
                <a:ea typeface="Arial"/>
                <a:cs typeface="Arial"/>
              </a:rPr>
              <a:t>3 x 3 median filter: noise reduced</a:t>
            </a:r>
          </a:p>
        </p:txBody>
      </p:sp>
      <p:pic>
        <p:nvPicPr>
          <p:cNvPr id="7" name="Picture 6">
            <a:extLst>
              <a:ext uri="{FF2B5EF4-FFF2-40B4-BE49-F238E27FC236}">
                <a16:creationId xmlns:a16="http://schemas.microsoft.com/office/drawing/2014/main" id="{46E3220E-F236-48B4-AEE6-980856B831F1}"/>
              </a:ext>
            </a:extLst>
          </p:cNvPr>
          <p:cNvPicPr>
            <a:picLocks noChangeAspect="1"/>
          </p:cNvPicPr>
          <p:nvPr/>
        </p:nvPicPr>
        <p:blipFill>
          <a:blip r:embed="rId3"/>
          <a:stretch/>
        </p:blipFill>
        <p:spPr>
          <a:xfrm>
            <a:off x="533400" y="1924050"/>
            <a:ext cx="5391150" cy="4043363"/>
          </a:xfrm>
          <a:prstGeom prst="rect">
            <a:avLst/>
          </a:prstGeom>
        </p:spPr>
      </p:pic>
      <p:pic>
        <p:nvPicPr>
          <p:cNvPr id="8" name="Picture 7">
            <a:extLst>
              <a:ext uri="{FF2B5EF4-FFF2-40B4-BE49-F238E27FC236}">
                <a16:creationId xmlns:a16="http://schemas.microsoft.com/office/drawing/2014/main" id="{53351990-48A4-480C-A1BB-A10DC415BDDC}"/>
              </a:ext>
            </a:extLst>
          </p:cNvPr>
          <p:cNvPicPr>
            <a:picLocks noChangeAspect="1"/>
          </p:cNvPicPr>
          <p:nvPr/>
        </p:nvPicPr>
        <p:blipFill>
          <a:blip r:embed="rId4"/>
          <a:stretch/>
        </p:blipFill>
        <p:spPr>
          <a:xfrm>
            <a:off x="6267450" y="1924050"/>
            <a:ext cx="5391150" cy="4043363"/>
          </a:xfrm>
          <a:prstGeom prst="rect">
            <a:avLst/>
          </a:prstGeom>
        </p:spPr>
      </p:pic>
      <p:sp>
        <p:nvSpPr>
          <p:cNvPr id="9" name="Rectangle 8">
            <a:extLst>
              <a:ext uri="{FF2B5EF4-FFF2-40B4-BE49-F238E27FC236}">
                <a16:creationId xmlns:a16="http://schemas.microsoft.com/office/drawing/2014/main" id="{0950946F-AAAF-4661-B163-E571648D084E}"/>
              </a:ext>
            </a:extLst>
          </p:cNvPr>
          <p:cNvSpPr>
            <a:spLocks noGrp="1"/>
          </p:cNvSpPr>
          <p:nvPr/>
        </p:nvSpPr>
        <p:spPr>
          <a:xfrm>
            <a:off x="533400" y="6134100"/>
            <a:ext cx="11125200" cy="257175"/>
          </a:xfrm>
          <a:prstGeom prst="rect">
            <a:avLst/>
          </a:prstGeom>
          <a:noFill/>
          <a:ln w="0">
            <a:noFill/>
          </a:ln>
        </p:spPr>
        <p:txBody>
          <a:bodyPr wrap="square" lIns="0" tIns="0" rIns="0" bIns="0">
            <a:noAutofit/>
          </a:bodyPr>
          <a:lstStyle>
            <a:defPPr>
              <a:defRPr sz="1575" b="0">
                <a:solidFill>
                  <a:srgbClr val="167A91"/>
                </a:solidFill>
                <a:latin typeface="Arial"/>
                <a:ea typeface="Arial"/>
                <a:cs typeface="Arial"/>
              </a:defRPr>
            </a:defPPr>
          </a:lstStyle>
          <a:p>
            <a:pPr>
              <a:buNone/>
              <a:defRPr sz="1575" b="0">
                <a:solidFill>
                  <a:srgbClr val="167A91"/>
                </a:solidFill>
                <a:latin typeface="Arial"/>
                <a:ea typeface="Arial"/>
                <a:cs typeface="Arial"/>
              </a:defRPr>
            </a:pPr>
            <a:r>
              <a:rPr sz="1575" b="0">
                <a:solidFill>
                  <a:srgbClr val="167A91"/>
                </a:solidFill>
                <a:latin typeface="Arial"/>
                <a:ea typeface="Arial"/>
                <a:cs typeface="Arial"/>
              </a:rPr>
              <a:t>Other boxes are scene objects. They are not image noise.</a:t>
            </a:r>
          </a:p>
        </p:txBody>
      </p:sp>
    </p:spTree>
    <p:extLst>
      <p:ext uri="{BB962C8B-B14F-4D97-AF65-F5344CB8AC3E}">
        <p14:creationId xmlns:p14="http://schemas.microsoft.com/office/powerpoint/2010/main" val="2034400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6E0361-7A8E-4063-AE58-BD9538945746}"/>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defRPr sz="3000" b="1">
                <a:solidFill>
                  <a:srgbClr val="172D45"/>
                </a:solidFill>
                <a:latin typeface="Arial"/>
                <a:ea typeface="Arial"/>
                <a:cs typeface="Arial"/>
              </a:defRPr>
            </a:defPPr>
          </a:lstStyle>
          <a:p>
            <a:pPr>
              <a:buNone/>
              <a:defRPr sz="3000" b="1">
                <a:solidFill>
                  <a:srgbClr val="172D45"/>
                </a:solidFill>
                <a:latin typeface="Arial"/>
                <a:ea typeface="Arial"/>
                <a:cs typeface="Arial"/>
              </a:defRPr>
            </a:pPr>
            <a:r>
              <a:rPr sz="3000" b="1">
                <a:solidFill>
                  <a:srgbClr val="172D45"/>
                </a:solidFill>
                <a:latin typeface="Arial"/>
                <a:ea typeface="Arial"/>
                <a:cs typeface="Arial"/>
              </a:rPr>
              <a:t>HSV segmentation and mask cleanup</a:t>
            </a:r>
          </a:p>
        </p:txBody>
      </p:sp>
      <p:sp>
        <p:nvSpPr>
          <p:cNvPr id="2" name="Rectangle 1">
            <a:extLst>
              <a:ext uri="{FF2B5EF4-FFF2-40B4-BE49-F238E27FC236}">
                <a16:creationId xmlns:a16="http://schemas.microsoft.com/office/drawing/2014/main" id="{50AFF43F-BF06-4B71-AE2A-08264497FD27}"/>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3" name="Rectangle 2">
            <a:extLst>
              <a:ext uri="{FF2B5EF4-FFF2-40B4-BE49-F238E27FC236}">
                <a16:creationId xmlns:a16="http://schemas.microsoft.com/office/drawing/2014/main" id="{0A29EB46-8DA4-487F-94FB-ED03CC62229B}"/>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defRPr sz="1125" b="0">
                <a:solidFill>
                  <a:srgbClr val="536373"/>
                </a:solidFill>
                <a:latin typeface="Arial"/>
                <a:ea typeface="Arial"/>
                <a:cs typeface="Arial"/>
              </a:defRPr>
            </a:defPPr>
          </a:lstStyle>
          <a:p>
            <a:pPr>
              <a:buNone/>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4" name="Rectangle 3">
            <a:extLst>
              <a:ext uri="{FF2B5EF4-FFF2-40B4-BE49-F238E27FC236}">
                <a16:creationId xmlns:a16="http://schemas.microsoft.com/office/drawing/2014/main" id="{7066D821-3A53-4D8E-B658-5596EA938D2D}"/>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defRPr sz="1275" b="1">
                <a:solidFill>
                  <a:srgbClr val="167A91"/>
                </a:solidFill>
                <a:latin typeface="Arial"/>
                <a:ea typeface="Arial"/>
                <a:cs typeface="Arial"/>
              </a:defRPr>
            </a:defPPr>
          </a:lstStyle>
          <a:p>
            <a:pPr>
              <a:buNone/>
              <a:defRPr sz="1275" b="1">
                <a:solidFill>
                  <a:srgbClr val="167A91"/>
                </a:solidFill>
                <a:latin typeface="Arial"/>
                <a:ea typeface="Arial"/>
                <a:cs typeface="Arial"/>
              </a:defRPr>
            </a:pPr>
            <a:r>
              <a:rPr sz="1275" b="1">
                <a:solidFill>
                  <a:srgbClr val="167A91"/>
                </a:solidFill>
                <a:latin typeface="Arial"/>
                <a:ea typeface="Arial"/>
                <a:cs typeface="Arial"/>
              </a:rPr>
              <a:t>05</a:t>
            </a:r>
          </a:p>
        </p:txBody>
      </p:sp>
      <p:sp>
        <p:nvSpPr>
          <p:cNvPr id="5" name="Rectangle 4">
            <a:extLst>
              <a:ext uri="{FF2B5EF4-FFF2-40B4-BE49-F238E27FC236}">
                <a16:creationId xmlns:a16="http://schemas.microsoft.com/office/drawing/2014/main" id="{BF881C40-63AA-4EFC-AC9F-47BE06101BBC}"/>
              </a:ext>
            </a:extLst>
          </p:cNvPr>
          <p:cNvSpPr>
            <a:spLocks noGrp="1"/>
          </p:cNvSpPr>
          <p:nvPr/>
        </p:nvSpPr>
        <p:spPr>
          <a:xfrm>
            <a:off x="533400" y="1438275"/>
            <a:ext cx="5391150" cy="323850"/>
          </a:xfrm>
          <a:prstGeom prst="rect">
            <a:avLst/>
          </a:prstGeom>
          <a:noFill/>
          <a:ln w="0">
            <a:noFill/>
          </a:ln>
        </p:spPr>
        <p:txBody>
          <a:bodyPr wrap="square" lIns="0" tIns="0" rIns="0" bIns="0">
            <a:noAutofit/>
          </a:bodyPr>
          <a:lstStyle>
            <a:defPPr>
              <a:defRPr sz="2025" b="1">
                <a:solidFill>
                  <a:srgbClr val="172D45"/>
                </a:solidFill>
                <a:latin typeface="Arial"/>
                <a:ea typeface="Arial"/>
                <a:cs typeface="Arial"/>
              </a:defRPr>
            </a:defPPr>
          </a:lstStyle>
          <a:p>
            <a:pPr>
              <a:buNone/>
              <a:defRPr sz="2025" b="1">
                <a:solidFill>
                  <a:srgbClr val="172D45"/>
                </a:solidFill>
                <a:latin typeface="Arial"/>
                <a:ea typeface="Arial"/>
                <a:cs typeface="Arial"/>
              </a:defRPr>
            </a:pPr>
            <a:r>
              <a:rPr sz="2025" b="1">
                <a:solidFill>
                  <a:srgbClr val="172D45"/>
                </a:solidFill>
                <a:latin typeface="Arial"/>
                <a:ea typeface="Arial"/>
                <a:cs typeface="Arial"/>
              </a:rPr>
              <a:t>HSV threshold mask</a:t>
            </a:r>
          </a:p>
        </p:txBody>
      </p:sp>
      <p:sp>
        <p:nvSpPr>
          <p:cNvPr id="6" name="Rectangle 5">
            <a:extLst>
              <a:ext uri="{FF2B5EF4-FFF2-40B4-BE49-F238E27FC236}">
                <a16:creationId xmlns:a16="http://schemas.microsoft.com/office/drawing/2014/main" id="{09C18B2F-E6C1-42E5-A327-32F121368779}"/>
              </a:ext>
            </a:extLst>
          </p:cNvPr>
          <p:cNvSpPr>
            <a:spLocks noGrp="1"/>
          </p:cNvSpPr>
          <p:nvPr/>
        </p:nvSpPr>
        <p:spPr>
          <a:xfrm>
            <a:off x="6267450" y="1438275"/>
            <a:ext cx="5391150" cy="323850"/>
          </a:xfrm>
          <a:prstGeom prst="rect">
            <a:avLst/>
          </a:prstGeom>
          <a:noFill/>
          <a:ln w="0">
            <a:noFill/>
          </a:ln>
        </p:spPr>
        <p:txBody>
          <a:bodyPr wrap="square" lIns="0" tIns="0" rIns="0" bIns="0">
            <a:noAutofit/>
          </a:bodyPr>
          <a:lstStyle>
            <a:defPPr>
              <a:defRPr sz="2025" b="1">
                <a:solidFill>
                  <a:srgbClr val="172D45"/>
                </a:solidFill>
                <a:latin typeface="Arial"/>
                <a:ea typeface="Arial"/>
                <a:cs typeface="Arial"/>
              </a:defRPr>
            </a:defPPr>
          </a:lstStyle>
          <a:p>
            <a:pPr>
              <a:buNone/>
              <a:defRPr sz="2025" b="1">
                <a:solidFill>
                  <a:srgbClr val="172D45"/>
                </a:solidFill>
                <a:latin typeface="Arial"/>
                <a:ea typeface="Arial"/>
                <a:cs typeface="Arial"/>
              </a:defRPr>
            </a:pPr>
            <a:r>
              <a:rPr sz="2025" b="1">
                <a:solidFill>
                  <a:srgbClr val="172D45"/>
                </a:solidFill>
                <a:latin typeface="Arial"/>
                <a:ea typeface="Arial"/>
                <a:cs typeface="Arial"/>
              </a:rPr>
              <a:t>After opening + closing</a:t>
            </a:r>
          </a:p>
        </p:txBody>
      </p:sp>
      <p:pic>
        <p:nvPicPr>
          <p:cNvPr id="7" name="Picture 6">
            <a:extLst>
              <a:ext uri="{FF2B5EF4-FFF2-40B4-BE49-F238E27FC236}">
                <a16:creationId xmlns:a16="http://schemas.microsoft.com/office/drawing/2014/main" id="{6DA635BC-537A-42E3-ACA2-A73C132CA659}"/>
              </a:ext>
            </a:extLst>
          </p:cNvPr>
          <p:cNvPicPr>
            <a:picLocks noChangeAspect="1"/>
          </p:cNvPicPr>
          <p:nvPr/>
        </p:nvPicPr>
        <p:blipFill>
          <a:blip r:embed="rId3"/>
          <a:stretch/>
        </p:blipFill>
        <p:spPr>
          <a:xfrm>
            <a:off x="533400" y="1895475"/>
            <a:ext cx="5391150" cy="4043363"/>
          </a:xfrm>
          <a:prstGeom prst="rect">
            <a:avLst/>
          </a:prstGeom>
        </p:spPr>
      </p:pic>
      <p:pic>
        <p:nvPicPr>
          <p:cNvPr id="8" name="Picture 7">
            <a:extLst>
              <a:ext uri="{FF2B5EF4-FFF2-40B4-BE49-F238E27FC236}">
                <a16:creationId xmlns:a16="http://schemas.microsoft.com/office/drawing/2014/main" id="{07636AB2-364A-4D84-A49D-987FA211A64D}"/>
              </a:ext>
            </a:extLst>
          </p:cNvPr>
          <p:cNvPicPr>
            <a:picLocks noChangeAspect="1"/>
          </p:cNvPicPr>
          <p:nvPr/>
        </p:nvPicPr>
        <p:blipFill>
          <a:blip r:embed="rId4"/>
          <a:stretch/>
        </p:blipFill>
        <p:spPr>
          <a:xfrm>
            <a:off x="6267450" y="1895475"/>
            <a:ext cx="5391150" cy="4043363"/>
          </a:xfrm>
          <a:prstGeom prst="rect">
            <a:avLst/>
          </a:prstGeom>
        </p:spPr>
      </p:pic>
      <p:sp>
        <p:nvSpPr>
          <p:cNvPr id="9" name="Rectangle 8">
            <a:extLst>
              <a:ext uri="{FF2B5EF4-FFF2-40B4-BE49-F238E27FC236}">
                <a16:creationId xmlns:a16="http://schemas.microsoft.com/office/drawing/2014/main" id="{4EDC6CA7-D938-4378-A660-97088595556E}"/>
              </a:ext>
            </a:extLst>
          </p:cNvPr>
          <p:cNvSpPr>
            <a:spLocks noGrp="1"/>
          </p:cNvSpPr>
          <p:nvPr/>
        </p:nvSpPr>
        <p:spPr>
          <a:xfrm>
            <a:off x="533400" y="6134100"/>
            <a:ext cx="11125200" cy="257175"/>
          </a:xfrm>
          <a:prstGeom prst="rect">
            <a:avLst/>
          </a:prstGeom>
          <a:noFill/>
          <a:ln w="0">
            <a:noFill/>
          </a:ln>
        </p:spPr>
        <p:txBody>
          <a:bodyPr wrap="square" lIns="0" tIns="0" rIns="0" bIns="0">
            <a:noAutofit/>
          </a:bodyPr>
          <a:lstStyle>
            <a:defPPr>
              <a:defRPr sz="1575" b="0">
                <a:solidFill>
                  <a:srgbClr val="167A91"/>
                </a:solidFill>
                <a:latin typeface="Arial"/>
                <a:ea typeface="Arial"/>
                <a:cs typeface="Arial"/>
              </a:defRPr>
            </a:defPPr>
          </a:lstStyle>
          <a:p>
            <a:pPr>
              <a:buNone/>
              <a:defRPr sz="1575" b="0">
                <a:solidFill>
                  <a:srgbClr val="167A91"/>
                </a:solidFill>
                <a:latin typeface="Arial"/>
                <a:ea typeface="Arial"/>
                <a:cs typeface="Arial"/>
              </a:defRPr>
            </a:pPr>
            <a:r>
              <a:rPr sz="1575" b="0">
                <a:solidFill>
                  <a:srgbClr val="167A91"/>
                </a:solidFill>
                <a:latin typeface="Arial"/>
                <a:ea typeface="Arial"/>
                <a:cs typeface="Arial"/>
              </a:rPr>
              <a:t>White = BLUE pixels. Median filtering already removes most specks in this frame.</a:t>
            </a:r>
          </a:p>
        </p:txBody>
      </p:sp>
    </p:spTree>
    <p:extLst>
      <p:ext uri="{BB962C8B-B14F-4D97-AF65-F5344CB8AC3E}">
        <p14:creationId xmlns:p14="http://schemas.microsoft.com/office/powerpoint/2010/main" val="827928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571B637-CAAB-4C9F-AE25-5D4A56B778CF}"/>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defRPr sz="3000" b="1">
                <a:solidFill>
                  <a:srgbClr val="172D45"/>
                </a:solidFill>
                <a:latin typeface="Arial"/>
                <a:ea typeface="Arial"/>
                <a:cs typeface="Arial"/>
              </a:defRPr>
            </a:defPPr>
          </a:lstStyle>
          <a:p>
            <a:pPr>
              <a:buNone/>
              <a:defRPr sz="3000" b="1">
                <a:solidFill>
                  <a:srgbClr val="172D45"/>
                </a:solidFill>
                <a:latin typeface="Arial"/>
                <a:ea typeface="Arial"/>
                <a:cs typeface="Arial"/>
              </a:defRPr>
            </a:pPr>
            <a:r>
              <a:rPr sz="3000" b="1">
                <a:solidFill>
                  <a:srgbClr val="172D45"/>
                </a:solidFill>
                <a:latin typeface="Arial"/>
                <a:ea typeface="Arial"/>
                <a:cs typeface="Arial"/>
              </a:rPr>
              <a:t>Detect a rectangle and estimate its angle</a:t>
            </a:r>
          </a:p>
        </p:txBody>
      </p:sp>
      <p:sp>
        <p:nvSpPr>
          <p:cNvPr id="2" name="Rectangle 1">
            <a:extLst>
              <a:ext uri="{FF2B5EF4-FFF2-40B4-BE49-F238E27FC236}">
                <a16:creationId xmlns:a16="http://schemas.microsoft.com/office/drawing/2014/main" id="{F60BA400-2A23-4B3B-ACAB-89D464803B41}"/>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3" name="Rectangle 2">
            <a:extLst>
              <a:ext uri="{FF2B5EF4-FFF2-40B4-BE49-F238E27FC236}">
                <a16:creationId xmlns:a16="http://schemas.microsoft.com/office/drawing/2014/main" id="{376673B7-B0C3-417B-8736-175449C26ADE}"/>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defRPr sz="1125" b="0">
                <a:solidFill>
                  <a:srgbClr val="536373"/>
                </a:solidFill>
                <a:latin typeface="Arial"/>
                <a:ea typeface="Arial"/>
                <a:cs typeface="Arial"/>
              </a:defRPr>
            </a:defPPr>
          </a:lstStyle>
          <a:p>
            <a:pPr>
              <a:buNone/>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4" name="Rectangle 3">
            <a:extLst>
              <a:ext uri="{FF2B5EF4-FFF2-40B4-BE49-F238E27FC236}">
                <a16:creationId xmlns:a16="http://schemas.microsoft.com/office/drawing/2014/main" id="{575F8F56-1B42-49F4-8C9C-3FCB8D4740EE}"/>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defRPr sz="1275" b="1">
                <a:solidFill>
                  <a:srgbClr val="167A91"/>
                </a:solidFill>
                <a:latin typeface="Arial"/>
                <a:ea typeface="Arial"/>
                <a:cs typeface="Arial"/>
              </a:defRPr>
            </a:defPPr>
          </a:lstStyle>
          <a:p>
            <a:pPr>
              <a:buNone/>
              <a:defRPr sz="1275" b="1">
                <a:solidFill>
                  <a:srgbClr val="167A91"/>
                </a:solidFill>
                <a:latin typeface="Arial"/>
                <a:ea typeface="Arial"/>
                <a:cs typeface="Arial"/>
              </a:defRPr>
            </a:pPr>
            <a:r>
              <a:rPr sz="1275" b="1">
                <a:solidFill>
                  <a:srgbClr val="167A91"/>
                </a:solidFill>
                <a:latin typeface="Arial"/>
                <a:ea typeface="Arial"/>
                <a:cs typeface="Arial"/>
              </a:rPr>
              <a:t>06</a:t>
            </a:r>
          </a:p>
        </p:txBody>
      </p:sp>
      <p:pic>
        <p:nvPicPr>
          <p:cNvPr id="5" name="Picture 4">
            <a:extLst>
              <a:ext uri="{FF2B5EF4-FFF2-40B4-BE49-F238E27FC236}">
                <a16:creationId xmlns:a16="http://schemas.microsoft.com/office/drawing/2014/main" id="{409CEDC1-B0F2-42C3-AA2F-9261F628446A}"/>
              </a:ext>
            </a:extLst>
          </p:cNvPr>
          <p:cNvPicPr>
            <a:picLocks noChangeAspect="1"/>
          </p:cNvPicPr>
          <p:nvPr/>
        </p:nvPicPr>
        <p:blipFill>
          <a:blip r:embed="rId3"/>
          <a:stretch/>
        </p:blipFill>
        <p:spPr>
          <a:xfrm>
            <a:off x="533400" y="1495425"/>
            <a:ext cx="6381750" cy="4786313"/>
          </a:xfrm>
          <a:prstGeom prst="rect">
            <a:avLst/>
          </a:prstGeom>
        </p:spPr>
      </p:pic>
      <p:sp>
        <p:nvSpPr>
          <p:cNvPr id="6" name="Rectangle 5">
            <a:extLst>
              <a:ext uri="{FF2B5EF4-FFF2-40B4-BE49-F238E27FC236}">
                <a16:creationId xmlns:a16="http://schemas.microsoft.com/office/drawing/2014/main" id="{1C7B2FD5-B668-486E-B2A7-F8F43A577CD3}"/>
              </a:ext>
            </a:extLst>
          </p:cNvPr>
          <p:cNvSpPr>
            <a:spLocks noGrp="1"/>
          </p:cNvSpPr>
          <p:nvPr/>
        </p:nvSpPr>
        <p:spPr>
          <a:xfrm>
            <a:off x="7277100" y="1600200"/>
            <a:ext cx="4286250" cy="666750"/>
          </a:xfrm>
          <a:prstGeom prst="rect">
            <a:avLst/>
          </a:prstGeom>
          <a:noFill/>
          <a:ln w="0">
            <a:noFill/>
          </a:ln>
        </p:spPr>
        <p:txBody>
          <a:bodyPr wrap="square" lIns="0" tIns="0" rIns="0" bIns="0">
            <a:noAutofit/>
          </a:bodyPr>
          <a:lstStyle>
            <a:defPPr>
              <a:defRPr sz="2250" b="1">
                <a:solidFill>
                  <a:srgbClr val="172D45"/>
                </a:solidFill>
                <a:latin typeface="Arial"/>
                <a:ea typeface="Arial"/>
                <a:cs typeface="Arial"/>
              </a:defRPr>
            </a:defPPr>
          </a:lstStyle>
          <a:p>
            <a:pPr>
              <a:buNone/>
              <a:defRPr sz="2250" b="1">
                <a:solidFill>
                  <a:srgbClr val="172D45"/>
                </a:solidFill>
                <a:latin typeface="Arial"/>
                <a:ea typeface="Arial"/>
                <a:cs typeface="Arial"/>
              </a:defRPr>
            </a:pPr>
            <a:r>
              <a:rPr sz="2250" b="1">
                <a:solidFill>
                  <a:srgbClr val="172D45"/>
                </a:solidFill>
                <a:latin typeface="Arial"/>
                <a:ea typeface="Arial"/>
                <a:cs typeface="Arial"/>
              </a:rPr>
              <a:t>Contours → rotated rectangles</a:t>
            </a:r>
          </a:p>
        </p:txBody>
      </p:sp>
      <p:sp>
        <p:nvSpPr>
          <p:cNvPr id="7" name="Rectangle 6">
            <a:extLst>
              <a:ext uri="{FF2B5EF4-FFF2-40B4-BE49-F238E27FC236}">
                <a16:creationId xmlns:a16="http://schemas.microsoft.com/office/drawing/2014/main" id="{E761BB2C-DFF5-479E-9F8D-1810CA435C4E}"/>
              </a:ext>
            </a:extLst>
          </p:cNvPr>
          <p:cNvSpPr>
            <a:spLocks noGrp="1"/>
          </p:cNvSpPr>
          <p:nvPr/>
        </p:nvSpPr>
        <p:spPr>
          <a:xfrm>
            <a:off x="7277100" y="2714625"/>
            <a:ext cx="4267200" cy="857250"/>
          </a:xfrm>
          <a:prstGeom prst="rect">
            <a:avLst/>
          </a:prstGeom>
          <a:noFill/>
          <a:ln w="0">
            <a:noFill/>
          </a:ln>
        </p:spPr>
        <p:txBody>
          <a:bodyPr wrap="square" lIns="0" tIns="0" rIns="0" bIns="0">
            <a:noAutofit/>
          </a:bodyPr>
          <a:lstStyle>
            <a:defPPr>
              <a:defRPr sz="1950" b="0">
                <a:solidFill>
                  <a:srgbClr val="172D45"/>
                </a:solidFill>
                <a:latin typeface="Arial"/>
                <a:ea typeface="Arial"/>
                <a:cs typeface="Arial"/>
              </a:defRPr>
            </a:defPPr>
          </a:lstStyle>
          <a:p>
            <a:pPr>
              <a:buNone/>
              <a:defRPr sz="1950" b="0">
                <a:solidFill>
                  <a:srgbClr val="172D45"/>
                </a:solidFill>
                <a:latin typeface="Arial"/>
                <a:ea typeface="Arial"/>
                <a:cs typeface="Arial"/>
              </a:defRPr>
            </a:pPr>
            <a:r>
              <a:rPr sz="1950" b="0">
                <a:solidFill>
                  <a:srgbClr val="172D45"/>
                </a:solidFill>
                <a:latin typeface="Arial"/>
                <a:ea typeface="Arial"/>
                <a:cs typeface="Arial"/>
              </a:rPr>
              <a:t>Reject invalid size, shape and fill.</a:t>
            </a:r>
          </a:p>
          <a:p>
            <a:pPr>
              <a:buNone/>
              <a:defRPr sz="1950" b="0">
                <a:solidFill>
                  <a:srgbClr val="172D45"/>
                </a:solidFill>
                <a:latin typeface="Arial"/>
                <a:ea typeface="Arial"/>
                <a:cs typeface="Arial"/>
              </a:defRPr>
            </a:pPr>
            <a:r>
              <a:rPr sz="1950" b="0">
                <a:solidFill>
                  <a:srgbClr val="172D45"/>
                </a:solidFill>
                <a:latin typeface="Arial"/>
                <a:ea typeface="Arial"/>
                <a:cs typeface="Arial"/>
              </a:rPr>
              <a:t>Choose one matching region.</a:t>
            </a:r>
          </a:p>
        </p:txBody>
      </p:sp>
      <p:sp>
        <p:nvSpPr>
          <p:cNvPr id="8" name="Rectangle 7">
            <a:extLst>
              <a:ext uri="{FF2B5EF4-FFF2-40B4-BE49-F238E27FC236}">
                <a16:creationId xmlns:a16="http://schemas.microsoft.com/office/drawing/2014/main" id="{413EDEE6-AD7E-41FE-A1CF-CA1167C895C8}"/>
              </a:ext>
            </a:extLst>
          </p:cNvPr>
          <p:cNvSpPr>
            <a:spLocks noGrp="1"/>
          </p:cNvSpPr>
          <p:nvPr/>
        </p:nvSpPr>
        <p:spPr>
          <a:xfrm>
            <a:off x="7277100" y="3952875"/>
            <a:ext cx="4267200" cy="857250"/>
          </a:xfrm>
          <a:prstGeom prst="rect">
            <a:avLst/>
          </a:prstGeom>
          <a:noFill/>
          <a:ln w="0">
            <a:noFill/>
          </a:ln>
        </p:spPr>
        <p:txBody>
          <a:bodyPr wrap="square" lIns="0" tIns="0" rIns="0" bIns="0">
            <a:noAutofit/>
          </a:bodyPr>
          <a:lstStyle>
            <a:defPPr>
              <a:defRPr sz="1950" b="0">
                <a:solidFill>
                  <a:srgbClr val="172D45"/>
                </a:solidFill>
                <a:latin typeface="Arial"/>
                <a:ea typeface="Arial"/>
                <a:cs typeface="Arial"/>
              </a:defRPr>
            </a:defPPr>
          </a:lstStyle>
          <a:p>
            <a:pPr>
              <a:buNone/>
              <a:defRPr sz="1950" b="0">
                <a:solidFill>
                  <a:srgbClr val="172D45"/>
                </a:solidFill>
                <a:latin typeface="Arial"/>
                <a:ea typeface="Arial"/>
                <a:cs typeface="Arial"/>
              </a:defRPr>
            </a:pPr>
            <a:r>
              <a:rPr sz="1950" b="0">
                <a:solidFill>
                  <a:srgbClr val="172D45"/>
                </a:solidFill>
                <a:latin typeface="Arial"/>
                <a:ea typeface="Arial"/>
                <a:cs typeface="Arial"/>
              </a:rPr>
              <a:t>Long edge gives the image angle.</a:t>
            </a:r>
          </a:p>
          <a:p>
            <a:pPr>
              <a:buNone/>
              <a:defRPr sz="1950" b="0">
                <a:solidFill>
                  <a:srgbClr val="172D45"/>
                </a:solidFill>
                <a:latin typeface="Arial"/>
                <a:ea typeface="Arial"/>
                <a:cs typeface="Arial"/>
              </a:defRPr>
            </a:pPr>
            <a:r>
              <a:rPr sz="1950" b="0">
                <a:solidFill>
                  <a:srgbClr val="172D45"/>
                </a:solidFill>
                <a:latin typeface="Arial"/>
                <a:ea typeface="Arial"/>
                <a:cs typeface="Arial"/>
              </a:rPr>
              <a:t>Calibration converts it to world yaw.</a:t>
            </a:r>
          </a:p>
        </p:txBody>
      </p:sp>
      <p:sp>
        <p:nvSpPr>
          <p:cNvPr id="9" name="Rectangle 8">
            <a:extLst>
              <a:ext uri="{FF2B5EF4-FFF2-40B4-BE49-F238E27FC236}">
                <a16:creationId xmlns:a16="http://schemas.microsoft.com/office/drawing/2014/main" id="{0BE08C74-309A-422D-99B3-84CD182AE17D}"/>
              </a:ext>
            </a:extLst>
          </p:cNvPr>
          <p:cNvSpPr>
            <a:spLocks noGrp="1"/>
          </p:cNvSpPr>
          <p:nvPr/>
        </p:nvSpPr>
        <p:spPr>
          <a:xfrm>
            <a:off x="7277100" y="5219700"/>
            <a:ext cx="4267200" cy="762000"/>
          </a:xfrm>
          <a:prstGeom prst="rect">
            <a:avLst/>
          </a:prstGeom>
          <a:noFill/>
          <a:ln w="0">
            <a:noFill/>
          </a:ln>
        </p:spPr>
        <p:txBody>
          <a:bodyPr wrap="square" lIns="0" tIns="0" rIns="0" bIns="0">
            <a:noAutofit/>
          </a:bodyPr>
          <a:lstStyle>
            <a:defPPr>
              <a:defRPr sz="1875" b="0">
                <a:solidFill>
                  <a:srgbClr val="167A91"/>
                </a:solidFill>
                <a:latin typeface="Arial"/>
                <a:ea typeface="Arial"/>
                <a:cs typeface="Arial"/>
              </a:defRPr>
            </a:defPPr>
          </a:lstStyle>
          <a:p>
            <a:pPr>
              <a:buNone/>
              <a:defRPr sz="1875" b="0">
                <a:solidFill>
                  <a:srgbClr val="167A91"/>
                </a:solidFill>
                <a:latin typeface="Arial"/>
                <a:ea typeface="Arial"/>
                <a:cs typeface="Arial"/>
              </a:defRPr>
            </a:pPr>
            <a:r>
              <a:rPr sz="1875" b="0">
                <a:solidFill>
                  <a:srgbClr val="167A91"/>
                </a:solidFill>
                <a:latin typeface="Arial"/>
                <a:ea typeface="Arial"/>
                <a:cs typeface="Arial"/>
              </a:rPr>
              <a:t>Elongated box: clear orientation</a:t>
            </a:r>
          </a:p>
          <a:p>
            <a:pPr>
              <a:buNone/>
              <a:defRPr sz="1875" b="0">
                <a:solidFill>
                  <a:srgbClr val="167A91"/>
                </a:solidFill>
                <a:latin typeface="Arial"/>
                <a:ea typeface="Arial"/>
                <a:cs typeface="Arial"/>
              </a:defRPr>
            </a:pPr>
            <a:r>
              <a:rPr sz="1875" b="0">
                <a:solidFill>
                  <a:srgbClr val="167A91"/>
                </a:solidFill>
                <a:latin typeface="Arial"/>
                <a:ea typeface="Arial"/>
                <a:cs typeface="Arial"/>
              </a:rPr>
              <a:t>Square box: ambiguous yaw</a:t>
            </a:r>
          </a:p>
        </p:txBody>
      </p:sp>
    </p:spTree>
    <p:extLst>
      <p:ext uri="{BB962C8B-B14F-4D97-AF65-F5344CB8AC3E}">
        <p14:creationId xmlns:p14="http://schemas.microsoft.com/office/powerpoint/2010/main" val="1282579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1128A87-A211-4A6A-865B-316E5023FEC3}"/>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defRPr sz="3000" b="1">
                <a:solidFill>
                  <a:srgbClr val="172D45"/>
                </a:solidFill>
                <a:latin typeface="Arial"/>
                <a:ea typeface="Arial"/>
                <a:cs typeface="Arial"/>
              </a:defRPr>
            </a:defPPr>
          </a:lstStyle>
          <a:p>
            <a:pPr>
              <a:buNone/>
              <a:defRPr sz="3000" b="1">
                <a:solidFill>
                  <a:srgbClr val="172D45"/>
                </a:solidFill>
                <a:latin typeface="Arial"/>
                <a:ea typeface="Arial"/>
                <a:cs typeface="Arial"/>
              </a:defRPr>
            </a:pPr>
            <a:r>
              <a:rPr sz="3000" b="1">
                <a:solidFill>
                  <a:srgbClr val="172D45"/>
                </a:solidFill>
                <a:latin typeface="Arial"/>
                <a:ea typeface="Arial"/>
                <a:cs typeface="Arial"/>
              </a:rPr>
              <a:t>Pixels become world position and yaw</a:t>
            </a:r>
          </a:p>
        </p:txBody>
      </p:sp>
      <p:sp>
        <p:nvSpPr>
          <p:cNvPr id="2" name="Rectangle 1">
            <a:extLst>
              <a:ext uri="{FF2B5EF4-FFF2-40B4-BE49-F238E27FC236}">
                <a16:creationId xmlns:a16="http://schemas.microsoft.com/office/drawing/2014/main" id="{AC070D67-A4AF-4204-ABFD-8A89838CC7BF}"/>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3" name="Rectangle 2">
            <a:extLst>
              <a:ext uri="{FF2B5EF4-FFF2-40B4-BE49-F238E27FC236}">
                <a16:creationId xmlns:a16="http://schemas.microsoft.com/office/drawing/2014/main" id="{DC399FD0-3929-4A38-94E5-50DA755C166C}"/>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defRPr sz="1125" b="0">
                <a:solidFill>
                  <a:srgbClr val="536373"/>
                </a:solidFill>
                <a:latin typeface="Arial"/>
                <a:ea typeface="Arial"/>
                <a:cs typeface="Arial"/>
              </a:defRPr>
            </a:defPPr>
          </a:lstStyle>
          <a:p>
            <a:pPr>
              <a:buNone/>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4" name="Rectangle 3">
            <a:extLst>
              <a:ext uri="{FF2B5EF4-FFF2-40B4-BE49-F238E27FC236}">
                <a16:creationId xmlns:a16="http://schemas.microsoft.com/office/drawing/2014/main" id="{3C36251E-3AEC-4C66-8341-6E0B22FEB0B3}"/>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defRPr sz="1275" b="1">
                <a:solidFill>
                  <a:srgbClr val="167A91"/>
                </a:solidFill>
                <a:latin typeface="Arial"/>
                <a:ea typeface="Arial"/>
                <a:cs typeface="Arial"/>
              </a:defRPr>
            </a:defPPr>
          </a:lstStyle>
          <a:p>
            <a:pPr>
              <a:buNone/>
              <a:defRPr sz="1275" b="1">
                <a:solidFill>
                  <a:srgbClr val="167A91"/>
                </a:solidFill>
                <a:latin typeface="Arial"/>
                <a:ea typeface="Arial"/>
                <a:cs typeface="Arial"/>
              </a:defRPr>
            </a:pPr>
            <a:r>
              <a:rPr sz="1275" b="1">
                <a:solidFill>
                  <a:srgbClr val="167A91"/>
                </a:solidFill>
                <a:latin typeface="Arial"/>
                <a:ea typeface="Arial"/>
                <a:cs typeface="Arial"/>
              </a:rPr>
              <a:t>07</a:t>
            </a:r>
          </a:p>
        </p:txBody>
      </p:sp>
      <p:sp>
        <p:nvSpPr>
          <p:cNvPr id="5" name="Rectangle 4">
            <a:extLst>
              <a:ext uri="{FF2B5EF4-FFF2-40B4-BE49-F238E27FC236}">
                <a16:creationId xmlns:a16="http://schemas.microsoft.com/office/drawing/2014/main" id="{6014D201-F2AA-4E29-9E9C-DD3B1ECE5F05}"/>
              </a:ext>
            </a:extLst>
          </p:cNvPr>
          <p:cNvSpPr>
            <a:spLocks noGrp="1"/>
          </p:cNvSpPr>
          <p:nvPr/>
        </p:nvSpPr>
        <p:spPr>
          <a:xfrm>
            <a:off x="533400" y="1790700"/>
            <a:ext cx="2609850" cy="1162050"/>
          </a:xfrm>
          <a:prstGeom prst="rect">
            <a:avLst/>
          </a:prstGeom>
          <a:solidFill>
            <a:srgbClr val="FFFFFF"/>
          </a:solidFill>
          <a:ln w="9525">
            <a:solidFill>
              <a:srgbClr val="D8E1E8"/>
            </a:solidFill>
          </a:ln>
        </p:spPr>
      </p:sp>
      <p:sp>
        <p:nvSpPr>
          <p:cNvPr id="6" name="Rectangle 5">
            <a:extLst>
              <a:ext uri="{FF2B5EF4-FFF2-40B4-BE49-F238E27FC236}">
                <a16:creationId xmlns:a16="http://schemas.microsoft.com/office/drawing/2014/main" id="{8333FC38-A0B5-41B7-8C6A-47B185880B8E}"/>
              </a:ext>
            </a:extLst>
          </p:cNvPr>
          <p:cNvSpPr>
            <a:spLocks noGrp="1"/>
          </p:cNvSpPr>
          <p:nvPr/>
        </p:nvSpPr>
        <p:spPr>
          <a:xfrm>
            <a:off x="666750" y="1971675"/>
            <a:ext cx="2343150" cy="333375"/>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Pixel centre</a:t>
            </a:r>
          </a:p>
        </p:txBody>
      </p:sp>
      <p:sp>
        <p:nvSpPr>
          <p:cNvPr id="7" name="Rectangle 6">
            <a:extLst>
              <a:ext uri="{FF2B5EF4-FFF2-40B4-BE49-F238E27FC236}">
                <a16:creationId xmlns:a16="http://schemas.microsoft.com/office/drawing/2014/main" id="{55796F1C-F287-4B5A-B445-3FC48F0FC96C}"/>
              </a:ext>
            </a:extLst>
          </p:cNvPr>
          <p:cNvSpPr>
            <a:spLocks noGrp="1"/>
          </p:cNvSpPr>
          <p:nvPr/>
        </p:nvSpPr>
        <p:spPr>
          <a:xfrm>
            <a:off x="666750" y="2476500"/>
            <a:ext cx="2343150" cy="3238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(u, v)</a:t>
            </a:r>
          </a:p>
        </p:txBody>
      </p:sp>
      <p:sp>
        <p:nvSpPr>
          <p:cNvPr id="8" name="Arrow: Right 7">
            <a:extLst>
              <a:ext uri="{FF2B5EF4-FFF2-40B4-BE49-F238E27FC236}">
                <a16:creationId xmlns:a16="http://schemas.microsoft.com/office/drawing/2014/main" id="{1F4C6C4A-421E-4439-95B3-D22ADE554A83}"/>
              </a:ext>
            </a:extLst>
          </p:cNvPr>
          <p:cNvSpPr>
            <a:spLocks noGrp="1"/>
          </p:cNvSpPr>
          <p:nvPr/>
        </p:nvSpPr>
        <p:spPr>
          <a:xfrm>
            <a:off x="3181350" y="2257425"/>
            <a:ext cx="161925" cy="161925"/>
          </a:xfrm>
          <a:prstGeom prst="rightArrow">
            <a:avLst/>
          </a:prstGeom>
          <a:solidFill>
            <a:srgbClr val="167A91"/>
          </a:solidFill>
          <a:ln w="0">
            <a:noFill/>
          </a:ln>
        </p:spPr>
      </p:sp>
      <p:sp>
        <p:nvSpPr>
          <p:cNvPr id="9" name="Rectangle 8">
            <a:extLst>
              <a:ext uri="{FF2B5EF4-FFF2-40B4-BE49-F238E27FC236}">
                <a16:creationId xmlns:a16="http://schemas.microsoft.com/office/drawing/2014/main" id="{18C309E9-ABD4-40C6-9FD3-F412964A2D7F}"/>
              </a:ext>
            </a:extLst>
          </p:cNvPr>
          <p:cNvSpPr>
            <a:spLocks noGrp="1"/>
          </p:cNvSpPr>
          <p:nvPr/>
        </p:nvSpPr>
        <p:spPr>
          <a:xfrm>
            <a:off x="3371850" y="1790700"/>
            <a:ext cx="2609850" cy="1162050"/>
          </a:xfrm>
          <a:prstGeom prst="rect">
            <a:avLst/>
          </a:prstGeom>
          <a:solidFill>
            <a:srgbClr val="FFFFFF"/>
          </a:solidFill>
          <a:ln w="9525">
            <a:solidFill>
              <a:srgbClr val="D8E1E8"/>
            </a:solidFill>
          </a:ln>
        </p:spPr>
      </p:sp>
      <p:sp>
        <p:nvSpPr>
          <p:cNvPr id="10" name="Rectangle 9">
            <a:extLst>
              <a:ext uri="{FF2B5EF4-FFF2-40B4-BE49-F238E27FC236}">
                <a16:creationId xmlns:a16="http://schemas.microsoft.com/office/drawing/2014/main" id="{2AE15D23-238B-4BBD-A042-FFD7061159E2}"/>
              </a:ext>
            </a:extLst>
          </p:cNvPr>
          <p:cNvSpPr>
            <a:spLocks noGrp="1"/>
          </p:cNvSpPr>
          <p:nvPr/>
        </p:nvSpPr>
        <p:spPr>
          <a:xfrm>
            <a:off x="3505200" y="1971675"/>
            <a:ext cx="2343150" cy="333375"/>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Calibrated ray</a:t>
            </a:r>
          </a:p>
        </p:txBody>
      </p:sp>
      <p:sp>
        <p:nvSpPr>
          <p:cNvPr id="11" name="Rectangle 10">
            <a:extLst>
              <a:ext uri="{FF2B5EF4-FFF2-40B4-BE49-F238E27FC236}">
                <a16:creationId xmlns:a16="http://schemas.microsoft.com/office/drawing/2014/main" id="{112AE2FD-DF63-4635-8459-7810B28D17E1}"/>
              </a:ext>
            </a:extLst>
          </p:cNvPr>
          <p:cNvSpPr>
            <a:spLocks noGrp="1"/>
          </p:cNvSpPr>
          <p:nvPr/>
        </p:nvSpPr>
        <p:spPr>
          <a:xfrm>
            <a:off x="3505200" y="2476500"/>
            <a:ext cx="2343150" cy="3238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Camera pose (C, R)</a:t>
            </a:r>
          </a:p>
        </p:txBody>
      </p:sp>
      <p:sp>
        <p:nvSpPr>
          <p:cNvPr id="12" name="Arrow: Right 11">
            <a:extLst>
              <a:ext uri="{FF2B5EF4-FFF2-40B4-BE49-F238E27FC236}">
                <a16:creationId xmlns:a16="http://schemas.microsoft.com/office/drawing/2014/main" id="{44C6E321-B9EE-411F-9B66-6B076E13B949}"/>
              </a:ext>
            </a:extLst>
          </p:cNvPr>
          <p:cNvSpPr>
            <a:spLocks noGrp="1"/>
          </p:cNvSpPr>
          <p:nvPr/>
        </p:nvSpPr>
        <p:spPr>
          <a:xfrm>
            <a:off x="6019800" y="2257425"/>
            <a:ext cx="161925" cy="161925"/>
          </a:xfrm>
          <a:prstGeom prst="rightArrow">
            <a:avLst/>
          </a:prstGeom>
          <a:solidFill>
            <a:srgbClr val="167A91"/>
          </a:solidFill>
          <a:ln w="0">
            <a:noFill/>
          </a:ln>
        </p:spPr>
      </p:sp>
      <p:sp>
        <p:nvSpPr>
          <p:cNvPr id="13" name="Rectangle 12">
            <a:extLst>
              <a:ext uri="{FF2B5EF4-FFF2-40B4-BE49-F238E27FC236}">
                <a16:creationId xmlns:a16="http://schemas.microsoft.com/office/drawing/2014/main" id="{BFA984C8-EB70-460E-AB98-FB004282C2B2}"/>
              </a:ext>
            </a:extLst>
          </p:cNvPr>
          <p:cNvSpPr>
            <a:spLocks noGrp="1"/>
          </p:cNvSpPr>
          <p:nvPr/>
        </p:nvSpPr>
        <p:spPr>
          <a:xfrm>
            <a:off x="6210300" y="1790700"/>
            <a:ext cx="2609850" cy="1162050"/>
          </a:xfrm>
          <a:prstGeom prst="rect">
            <a:avLst/>
          </a:prstGeom>
          <a:solidFill>
            <a:srgbClr val="FFFFFF"/>
          </a:solidFill>
          <a:ln w="9525">
            <a:solidFill>
              <a:srgbClr val="D8E1E8"/>
            </a:solidFill>
          </a:ln>
        </p:spPr>
      </p:sp>
      <p:sp>
        <p:nvSpPr>
          <p:cNvPr id="14" name="Rectangle 13">
            <a:extLst>
              <a:ext uri="{FF2B5EF4-FFF2-40B4-BE49-F238E27FC236}">
                <a16:creationId xmlns:a16="http://schemas.microsoft.com/office/drawing/2014/main" id="{1431B2FD-631F-4658-9F03-5DF3A5437E3D}"/>
              </a:ext>
            </a:extLst>
          </p:cNvPr>
          <p:cNvSpPr>
            <a:spLocks noGrp="1"/>
          </p:cNvSpPr>
          <p:nvPr/>
        </p:nvSpPr>
        <p:spPr>
          <a:xfrm>
            <a:off x="6343650" y="1971675"/>
            <a:ext cx="2343150" cy="333375"/>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Box-top plane</a:t>
            </a:r>
          </a:p>
        </p:txBody>
      </p:sp>
      <p:sp>
        <p:nvSpPr>
          <p:cNvPr id="15" name="Rectangle 14">
            <a:extLst>
              <a:ext uri="{FF2B5EF4-FFF2-40B4-BE49-F238E27FC236}">
                <a16:creationId xmlns:a16="http://schemas.microsoft.com/office/drawing/2014/main" id="{F4E42DBA-9C91-464B-BEA7-81D798F426A3}"/>
              </a:ext>
            </a:extLst>
          </p:cNvPr>
          <p:cNvSpPr>
            <a:spLocks noGrp="1"/>
          </p:cNvSpPr>
          <p:nvPr/>
        </p:nvSpPr>
        <p:spPr>
          <a:xfrm>
            <a:off x="6343650" y="2476500"/>
            <a:ext cx="2343150" cy="3238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z = 0.27 m</a:t>
            </a:r>
          </a:p>
        </p:txBody>
      </p:sp>
      <p:sp>
        <p:nvSpPr>
          <p:cNvPr id="16" name="Arrow: Right 15">
            <a:extLst>
              <a:ext uri="{FF2B5EF4-FFF2-40B4-BE49-F238E27FC236}">
                <a16:creationId xmlns:a16="http://schemas.microsoft.com/office/drawing/2014/main" id="{B20A10EE-6034-42FF-9AAE-555AEB9D2D1B}"/>
              </a:ext>
            </a:extLst>
          </p:cNvPr>
          <p:cNvSpPr>
            <a:spLocks noGrp="1"/>
          </p:cNvSpPr>
          <p:nvPr/>
        </p:nvSpPr>
        <p:spPr>
          <a:xfrm>
            <a:off x="8858250" y="2257425"/>
            <a:ext cx="161925" cy="161925"/>
          </a:xfrm>
          <a:prstGeom prst="rightArrow">
            <a:avLst/>
          </a:prstGeom>
          <a:solidFill>
            <a:srgbClr val="167A91"/>
          </a:solidFill>
          <a:ln w="0">
            <a:noFill/>
          </a:ln>
        </p:spPr>
      </p:sp>
      <p:sp>
        <p:nvSpPr>
          <p:cNvPr id="17" name="Rectangle 16">
            <a:extLst>
              <a:ext uri="{FF2B5EF4-FFF2-40B4-BE49-F238E27FC236}">
                <a16:creationId xmlns:a16="http://schemas.microsoft.com/office/drawing/2014/main" id="{F9E06767-8F45-4AFA-8AE5-E2727BF81162}"/>
              </a:ext>
            </a:extLst>
          </p:cNvPr>
          <p:cNvSpPr>
            <a:spLocks noGrp="1"/>
          </p:cNvSpPr>
          <p:nvPr/>
        </p:nvSpPr>
        <p:spPr>
          <a:xfrm>
            <a:off x="9048750" y="1790700"/>
            <a:ext cx="2609850" cy="1162050"/>
          </a:xfrm>
          <a:prstGeom prst="rect">
            <a:avLst/>
          </a:prstGeom>
          <a:solidFill>
            <a:srgbClr val="FFFFFF"/>
          </a:solidFill>
          <a:ln w="9525">
            <a:solidFill>
              <a:srgbClr val="D8E1E8"/>
            </a:solidFill>
          </a:ln>
        </p:spPr>
      </p:sp>
      <p:sp>
        <p:nvSpPr>
          <p:cNvPr id="18" name="Rectangle 17">
            <a:extLst>
              <a:ext uri="{FF2B5EF4-FFF2-40B4-BE49-F238E27FC236}">
                <a16:creationId xmlns:a16="http://schemas.microsoft.com/office/drawing/2014/main" id="{6DF0041D-767F-44F1-80A3-9677ED9C12B5}"/>
              </a:ext>
            </a:extLst>
          </p:cNvPr>
          <p:cNvSpPr>
            <a:spLocks noGrp="1"/>
          </p:cNvSpPr>
          <p:nvPr/>
        </p:nvSpPr>
        <p:spPr>
          <a:xfrm>
            <a:off x="9182100" y="1971675"/>
            <a:ext cx="2343150" cy="333375"/>
          </a:xfrm>
          <a:prstGeom prst="rect">
            <a:avLst/>
          </a:prstGeom>
          <a:noFill/>
          <a:ln w="0">
            <a:noFill/>
          </a:ln>
        </p:spPr>
        <p:txBody>
          <a:bodyPr wrap="square" lIns="0" tIns="0" rIns="0" bIns="0">
            <a:noAutofit/>
          </a:bodyPr>
          <a:lstStyle>
            <a:defPPr>
              <a:defRPr sz="2025" b="1">
                <a:solidFill>
                  <a:srgbClr val="167A91"/>
                </a:solidFill>
                <a:latin typeface="Arial"/>
                <a:ea typeface="Arial"/>
                <a:cs typeface="Arial"/>
              </a:defRPr>
            </a:defPPr>
          </a:lstStyle>
          <a:p>
            <a:pPr>
              <a:buNone/>
              <a:defRPr sz="2025" b="1">
                <a:solidFill>
                  <a:srgbClr val="167A91"/>
                </a:solidFill>
                <a:latin typeface="Arial"/>
                <a:ea typeface="Arial"/>
                <a:cs typeface="Arial"/>
              </a:defRPr>
            </a:pPr>
            <a:r>
              <a:rPr sz="2025" b="1">
                <a:solidFill>
                  <a:srgbClr val="167A91"/>
                </a:solidFill>
                <a:latin typeface="Arial"/>
                <a:ea typeface="Arial"/>
                <a:cs typeface="Arial"/>
              </a:rPr>
              <a:t>World estimate</a:t>
            </a:r>
          </a:p>
        </p:txBody>
      </p:sp>
      <p:sp>
        <p:nvSpPr>
          <p:cNvPr id="19" name="Rectangle 18">
            <a:extLst>
              <a:ext uri="{FF2B5EF4-FFF2-40B4-BE49-F238E27FC236}">
                <a16:creationId xmlns:a16="http://schemas.microsoft.com/office/drawing/2014/main" id="{73D7069E-D8FA-4B50-8A91-774A0EB17A1E}"/>
              </a:ext>
            </a:extLst>
          </p:cNvPr>
          <p:cNvSpPr>
            <a:spLocks noGrp="1"/>
          </p:cNvSpPr>
          <p:nvPr/>
        </p:nvSpPr>
        <p:spPr>
          <a:xfrm>
            <a:off x="9182100" y="2476500"/>
            <a:ext cx="2343150" cy="32385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(x, y, z), yaw</a:t>
            </a:r>
          </a:p>
        </p:txBody>
      </p:sp>
      <p:sp>
        <p:nvSpPr>
          <p:cNvPr id="20" name="Rectangle 19">
            <a:extLst>
              <a:ext uri="{FF2B5EF4-FFF2-40B4-BE49-F238E27FC236}">
                <a16:creationId xmlns:a16="http://schemas.microsoft.com/office/drawing/2014/main" id="{F0EE0F7F-5604-4208-8D4C-920B636451B5}"/>
              </a:ext>
            </a:extLst>
          </p:cNvPr>
          <p:cNvSpPr>
            <a:spLocks noGrp="1"/>
          </p:cNvSpPr>
          <p:nvPr/>
        </p:nvSpPr>
        <p:spPr>
          <a:xfrm>
            <a:off x="533400" y="3429000"/>
            <a:ext cx="5286375" cy="590550"/>
          </a:xfrm>
          <a:prstGeom prst="rect">
            <a:avLst/>
          </a:prstGeom>
          <a:noFill/>
          <a:ln w="0">
            <a:noFill/>
          </a:ln>
        </p:spPr>
        <p:txBody>
          <a:bodyPr wrap="square" lIns="0" tIns="0" rIns="0" bIns="0">
            <a:noAutofit/>
          </a:bodyPr>
          <a:lstStyle>
            <a:defPPr>
              <a:defRPr sz="2550" b="1">
                <a:solidFill>
                  <a:srgbClr val="172D45"/>
                </a:solidFill>
                <a:latin typeface="Arial"/>
                <a:ea typeface="Arial"/>
                <a:cs typeface="Arial"/>
              </a:defRPr>
            </a:defPPr>
          </a:lstStyle>
          <a:p>
            <a:pPr>
              <a:buNone/>
              <a:defRPr sz="2550" b="1">
                <a:solidFill>
                  <a:srgbClr val="172D45"/>
                </a:solidFill>
                <a:latin typeface="Arial"/>
                <a:ea typeface="Arial"/>
                <a:cs typeface="Arial"/>
              </a:defRPr>
            </a:pPr>
            <a:r>
              <a:rPr sz="2550" b="1">
                <a:solidFill>
                  <a:srgbClr val="172D45"/>
                </a:solidFill>
                <a:latin typeface="Arial"/>
                <a:ea typeface="Arial"/>
                <a:cs typeface="Arial"/>
              </a:rPr>
              <a:t>f = H / [2 tan(FOV / 2)]</a:t>
            </a:r>
          </a:p>
        </p:txBody>
      </p:sp>
      <p:sp>
        <p:nvSpPr>
          <p:cNvPr id="21" name="Rectangle 20">
            <a:extLst>
              <a:ext uri="{FF2B5EF4-FFF2-40B4-BE49-F238E27FC236}">
                <a16:creationId xmlns:a16="http://schemas.microsoft.com/office/drawing/2014/main" id="{3711A6CD-B02C-44C6-9D41-9E201A971DAC}"/>
              </a:ext>
            </a:extLst>
          </p:cNvPr>
          <p:cNvSpPr>
            <a:spLocks noGrp="1"/>
          </p:cNvSpPr>
          <p:nvPr/>
        </p:nvSpPr>
        <p:spPr>
          <a:xfrm>
            <a:off x="533400" y="4238625"/>
            <a:ext cx="6858000" cy="571500"/>
          </a:xfrm>
          <a:prstGeom prst="rect">
            <a:avLst/>
          </a:prstGeom>
          <a:noFill/>
          <a:ln w="0">
            <a:noFill/>
          </a:ln>
        </p:spPr>
        <p:txBody>
          <a:bodyPr wrap="square" lIns="0" tIns="0" rIns="0" bIns="0">
            <a:noAutofit/>
          </a:bodyPr>
          <a:lstStyle>
            <a:defPPr>
              <a:defRPr sz="2250" b="0">
                <a:solidFill>
                  <a:srgbClr val="172D45"/>
                </a:solidFill>
                <a:latin typeface="Arial"/>
                <a:ea typeface="Arial"/>
                <a:cs typeface="Arial"/>
              </a:defRPr>
            </a:defPPr>
          </a:lstStyle>
          <a:p>
            <a:pPr>
              <a:buNone/>
              <a:defRPr sz="2250" b="0">
                <a:solidFill>
                  <a:srgbClr val="172D45"/>
                </a:solidFill>
                <a:latin typeface="Arial"/>
                <a:ea typeface="Arial"/>
                <a:cs typeface="Arial"/>
              </a:defRPr>
            </a:pPr>
            <a:r>
              <a:rPr sz="2250" b="0">
                <a:solidFill>
                  <a:srgbClr val="172D45"/>
                </a:solidFill>
                <a:latin typeface="Arial"/>
                <a:ea typeface="Arial"/>
                <a:cs typeface="Arial"/>
              </a:rPr>
              <a:t>P = C + t r, with Pz = box-top height</a:t>
            </a:r>
          </a:p>
        </p:txBody>
      </p:sp>
      <p:sp>
        <p:nvSpPr>
          <p:cNvPr id="22" name="Rectangle 21">
            <a:extLst>
              <a:ext uri="{FF2B5EF4-FFF2-40B4-BE49-F238E27FC236}">
                <a16:creationId xmlns:a16="http://schemas.microsoft.com/office/drawing/2014/main" id="{A2139D41-8D6A-4A4F-ABAF-9AB210A73391}"/>
              </a:ext>
            </a:extLst>
          </p:cNvPr>
          <p:cNvSpPr>
            <a:spLocks noGrp="1"/>
          </p:cNvSpPr>
          <p:nvPr/>
        </p:nvSpPr>
        <p:spPr>
          <a:xfrm>
            <a:off x="533400" y="5095875"/>
            <a:ext cx="10477500" cy="619125"/>
          </a:xfrm>
          <a:prstGeom prst="rect">
            <a:avLst/>
          </a:prstGeom>
          <a:noFill/>
          <a:ln w="0">
            <a:noFill/>
          </a:ln>
        </p:spPr>
        <p:txBody>
          <a:bodyPr wrap="square" lIns="0" tIns="0" rIns="0" bIns="0">
            <a:noAutofit/>
          </a:bodyPr>
          <a:lstStyle>
            <a:defPPr>
              <a:defRPr sz="2175" b="0">
                <a:solidFill>
                  <a:srgbClr val="172D45"/>
                </a:solidFill>
                <a:latin typeface="Arial"/>
                <a:ea typeface="Arial"/>
                <a:cs typeface="Arial"/>
              </a:defRPr>
            </a:defPPr>
          </a:lstStyle>
          <a:p>
            <a:pPr>
              <a:buNone/>
              <a:defRPr sz="2175" b="0">
                <a:solidFill>
                  <a:srgbClr val="172D45"/>
                </a:solidFill>
                <a:latin typeface="Arial"/>
                <a:ea typeface="Arial"/>
                <a:cs typeface="Arial"/>
              </a:defRPr>
            </a:pPr>
            <a:r>
              <a:rPr sz="2175" b="0">
                <a:solidFill>
                  <a:srgbClr val="172D45"/>
                </a:solidFill>
                <a:latin typeface="Arial"/>
                <a:ea typeface="Arial"/>
                <a:cs typeface="Arial"/>
              </a:rPr>
              <a:t>World yaw = atan2(Δy, Δx) of the mapped long edge</a:t>
            </a:r>
          </a:p>
        </p:txBody>
      </p:sp>
      <p:sp>
        <p:nvSpPr>
          <p:cNvPr id="23" name="Rectangle 22">
            <a:extLst>
              <a:ext uri="{FF2B5EF4-FFF2-40B4-BE49-F238E27FC236}">
                <a16:creationId xmlns:a16="http://schemas.microsoft.com/office/drawing/2014/main" id="{36454D1F-259F-4A0F-AB26-B483A79B9585}"/>
              </a:ext>
            </a:extLst>
          </p:cNvPr>
          <p:cNvSpPr>
            <a:spLocks noGrp="1"/>
          </p:cNvSpPr>
          <p:nvPr/>
        </p:nvSpPr>
        <p:spPr>
          <a:xfrm>
            <a:off x="533400" y="5991225"/>
            <a:ext cx="11125200" cy="333375"/>
          </a:xfrm>
          <a:prstGeom prst="rect">
            <a:avLst/>
          </a:prstGeom>
          <a:noFill/>
          <a:ln w="0">
            <a:noFill/>
          </a:ln>
        </p:spPr>
        <p:txBody>
          <a:bodyPr wrap="square" lIns="0" tIns="0" rIns="0" bIns="0">
            <a:noAutofit/>
          </a:bodyPr>
          <a:lstStyle>
            <a:defPPr>
              <a:defRPr sz="1725" b="0">
                <a:solidFill>
                  <a:srgbClr val="167A91"/>
                </a:solidFill>
                <a:latin typeface="Arial"/>
                <a:ea typeface="Arial"/>
                <a:cs typeface="Arial"/>
              </a:defRPr>
            </a:defPPr>
          </a:lstStyle>
          <a:p>
            <a:pPr>
              <a:buNone/>
              <a:defRPr sz="1725" b="0">
                <a:solidFill>
                  <a:srgbClr val="167A91"/>
                </a:solidFill>
                <a:latin typeface="Arial"/>
                <a:ea typeface="Arial"/>
                <a:cs typeface="Arial"/>
              </a:defRPr>
            </a:pPr>
            <a:r>
              <a:rPr sz="1725" b="0">
                <a:solidFill>
                  <a:srgbClr val="167A91"/>
                </a:solidFill>
                <a:latin typeface="Arial"/>
                <a:ea typeface="Arial"/>
                <a:cs typeface="Arial"/>
              </a:rPr>
              <a:t>Fixed camera • flat table • known 4 cm box height • yaw modulo 180°</a:t>
            </a:r>
          </a:p>
        </p:txBody>
      </p:sp>
    </p:spTree>
    <p:extLst>
      <p:ext uri="{BB962C8B-B14F-4D97-AF65-F5344CB8AC3E}">
        <p14:creationId xmlns:p14="http://schemas.microsoft.com/office/powerpoint/2010/main" val="1095231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BF94EFD-2A6F-445C-BCAF-71E9A406C76B}"/>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defRPr sz="3000" b="1">
                <a:solidFill>
                  <a:srgbClr val="172D45"/>
                </a:solidFill>
                <a:latin typeface="Arial"/>
                <a:ea typeface="Arial"/>
                <a:cs typeface="Arial"/>
              </a:defRPr>
            </a:defPPr>
          </a:lstStyle>
          <a:p>
            <a:pPr>
              <a:buNone/>
              <a:defRPr sz="3000" b="1">
                <a:solidFill>
                  <a:srgbClr val="172D45"/>
                </a:solidFill>
                <a:latin typeface="Arial"/>
                <a:ea typeface="Arial"/>
                <a:cs typeface="Arial"/>
              </a:defRPr>
            </a:pPr>
            <a:r>
              <a:rPr sz="3000" b="1">
                <a:solidFill>
                  <a:srgbClr val="172D45"/>
                </a:solidFill>
                <a:latin typeface="Arial"/>
                <a:ea typeface="Arial"/>
                <a:cs typeface="Arial"/>
              </a:rPr>
              <a:t>Vision supplies a pose; IK and control move the arm</a:t>
            </a:r>
          </a:p>
        </p:txBody>
      </p:sp>
      <p:sp>
        <p:nvSpPr>
          <p:cNvPr id="2" name="Rectangle 1">
            <a:extLst>
              <a:ext uri="{FF2B5EF4-FFF2-40B4-BE49-F238E27FC236}">
                <a16:creationId xmlns:a16="http://schemas.microsoft.com/office/drawing/2014/main" id="{A1CA57AD-C1A5-4F80-894E-E4B2B11B5275}"/>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3" name="Rectangle 2">
            <a:extLst>
              <a:ext uri="{FF2B5EF4-FFF2-40B4-BE49-F238E27FC236}">
                <a16:creationId xmlns:a16="http://schemas.microsoft.com/office/drawing/2014/main" id="{D64F2D0F-8593-4CC8-B339-0F3A8EFCD8FF}"/>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defRPr sz="1125" b="0">
                <a:solidFill>
                  <a:srgbClr val="536373"/>
                </a:solidFill>
                <a:latin typeface="Arial"/>
                <a:ea typeface="Arial"/>
                <a:cs typeface="Arial"/>
              </a:defRPr>
            </a:defPPr>
          </a:lstStyle>
          <a:p>
            <a:pPr>
              <a:buNone/>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4" name="Rectangle 3">
            <a:extLst>
              <a:ext uri="{FF2B5EF4-FFF2-40B4-BE49-F238E27FC236}">
                <a16:creationId xmlns:a16="http://schemas.microsoft.com/office/drawing/2014/main" id="{DB0E5BE2-1414-4E1C-B6A5-D8CDC66A1FE4}"/>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defRPr sz="1275" b="1">
                <a:solidFill>
                  <a:srgbClr val="167A91"/>
                </a:solidFill>
                <a:latin typeface="Arial"/>
                <a:ea typeface="Arial"/>
                <a:cs typeface="Arial"/>
              </a:defRPr>
            </a:defPPr>
          </a:lstStyle>
          <a:p>
            <a:pPr>
              <a:buNone/>
              <a:defRPr sz="1275" b="1">
                <a:solidFill>
                  <a:srgbClr val="167A91"/>
                </a:solidFill>
                <a:latin typeface="Arial"/>
                <a:ea typeface="Arial"/>
                <a:cs typeface="Arial"/>
              </a:defRPr>
            </a:pPr>
            <a:r>
              <a:rPr sz="1275" b="1">
                <a:solidFill>
                  <a:srgbClr val="167A91"/>
                </a:solidFill>
                <a:latin typeface="Arial"/>
                <a:ea typeface="Arial"/>
                <a:cs typeface="Arial"/>
              </a:rPr>
              <a:t>08</a:t>
            </a:r>
          </a:p>
        </p:txBody>
      </p:sp>
      <p:sp>
        <p:nvSpPr>
          <p:cNvPr id="5" name="Rectangle 4">
            <a:extLst>
              <a:ext uri="{FF2B5EF4-FFF2-40B4-BE49-F238E27FC236}">
                <a16:creationId xmlns:a16="http://schemas.microsoft.com/office/drawing/2014/main" id="{D6FBB412-485D-4E38-A3C8-B11B6268E1BE}"/>
              </a:ext>
            </a:extLst>
          </p:cNvPr>
          <p:cNvSpPr>
            <a:spLocks noGrp="1"/>
          </p:cNvSpPr>
          <p:nvPr/>
        </p:nvSpPr>
        <p:spPr>
          <a:xfrm>
            <a:off x="533400" y="1457325"/>
            <a:ext cx="3524250" cy="342900"/>
          </a:xfrm>
          <a:prstGeom prst="rect">
            <a:avLst/>
          </a:prstGeom>
          <a:noFill/>
          <a:ln w="0">
            <a:noFill/>
          </a:ln>
        </p:spPr>
        <p:txBody>
          <a:bodyPr wrap="square" lIns="0" tIns="0" rIns="0" bIns="0">
            <a:noAutofit/>
          </a:bodyPr>
          <a:lstStyle>
            <a:defPPr>
              <a:defRPr sz="2100" b="1">
                <a:solidFill>
                  <a:srgbClr val="172D45"/>
                </a:solidFill>
                <a:latin typeface="Arial"/>
                <a:ea typeface="Arial"/>
                <a:cs typeface="Arial"/>
              </a:defRPr>
            </a:defPPr>
          </a:lstStyle>
          <a:p>
            <a:pPr>
              <a:buNone/>
              <a:defRPr sz="2100" b="1">
                <a:solidFill>
                  <a:srgbClr val="172D45"/>
                </a:solidFill>
                <a:latin typeface="Arial"/>
                <a:ea typeface="Arial"/>
                <a:cs typeface="Arial"/>
              </a:defRPr>
            </a:pPr>
            <a:r>
              <a:rPr sz="2100" b="1">
                <a:solidFill>
                  <a:srgbClr val="172D45"/>
                </a:solidFill>
                <a:latin typeface="Arial"/>
                <a:ea typeface="Arial"/>
                <a:cs typeface="Arial"/>
              </a:rPr>
              <a:t>Grasp</a:t>
            </a:r>
          </a:p>
        </p:txBody>
      </p:sp>
      <p:pic>
        <p:nvPicPr>
          <p:cNvPr id="6" name="Picture 5">
            <a:extLst>
              <a:ext uri="{FF2B5EF4-FFF2-40B4-BE49-F238E27FC236}">
                <a16:creationId xmlns:a16="http://schemas.microsoft.com/office/drawing/2014/main" id="{D8FDBD2F-2390-4932-9A04-FE3A60086850}"/>
              </a:ext>
            </a:extLst>
          </p:cNvPr>
          <p:cNvPicPr>
            <a:picLocks noChangeAspect="1"/>
          </p:cNvPicPr>
          <p:nvPr/>
        </p:nvPicPr>
        <p:blipFill>
          <a:blip r:embed="rId3"/>
          <a:stretch/>
        </p:blipFill>
        <p:spPr>
          <a:xfrm>
            <a:off x="533400" y="1962150"/>
            <a:ext cx="3524250" cy="2643188"/>
          </a:xfrm>
          <a:prstGeom prst="rect">
            <a:avLst/>
          </a:prstGeom>
        </p:spPr>
      </p:pic>
      <p:sp>
        <p:nvSpPr>
          <p:cNvPr id="7" name="Rectangle 6">
            <a:extLst>
              <a:ext uri="{FF2B5EF4-FFF2-40B4-BE49-F238E27FC236}">
                <a16:creationId xmlns:a16="http://schemas.microsoft.com/office/drawing/2014/main" id="{BD3DBC75-F636-47DA-B691-6363A81A4C94}"/>
              </a:ext>
            </a:extLst>
          </p:cNvPr>
          <p:cNvSpPr>
            <a:spLocks noGrp="1"/>
          </p:cNvSpPr>
          <p:nvPr/>
        </p:nvSpPr>
        <p:spPr>
          <a:xfrm>
            <a:off x="4314825" y="1457325"/>
            <a:ext cx="3524250" cy="342900"/>
          </a:xfrm>
          <a:prstGeom prst="rect">
            <a:avLst/>
          </a:prstGeom>
          <a:noFill/>
          <a:ln w="0">
            <a:noFill/>
          </a:ln>
        </p:spPr>
        <p:txBody>
          <a:bodyPr wrap="square" lIns="0" tIns="0" rIns="0" bIns="0">
            <a:noAutofit/>
          </a:bodyPr>
          <a:lstStyle>
            <a:defPPr>
              <a:defRPr sz="2100" b="1">
                <a:solidFill>
                  <a:srgbClr val="172D45"/>
                </a:solidFill>
                <a:latin typeface="Arial"/>
                <a:ea typeface="Arial"/>
                <a:cs typeface="Arial"/>
              </a:defRPr>
            </a:defPPr>
          </a:lstStyle>
          <a:p>
            <a:pPr>
              <a:buNone/>
              <a:defRPr sz="2100" b="1">
                <a:solidFill>
                  <a:srgbClr val="172D45"/>
                </a:solidFill>
                <a:latin typeface="Arial"/>
                <a:ea typeface="Arial"/>
                <a:cs typeface="Arial"/>
              </a:defRPr>
            </a:pPr>
            <a:r>
              <a:rPr sz="2100" b="1">
                <a:solidFill>
                  <a:srgbClr val="172D45"/>
                </a:solidFill>
                <a:latin typeface="Arial"/>
                <a:ea typeface="Arial"/>
                <a:cs typeface="Arial"/>
              </a:rPr>
              <a:t>Lift</a:t>
            </a:r>
          </a:p>
        </p:txBody>
      </p:sp>
      <p:pic>
        <p:nvPicPr>
          <p:cNvPr id="8" name="Picture 7">
            <a:extLst>
              <a:ext uri="{FF2B5EF4-FFF2-40B4-BE49-F238E27FC236}">
                <a16:creationId xmlns:a16="http://schemas.microsoft.com/office/drawing/2014/main" id="{AF2AE892-94F9-4837-AEDA-B44398E03A86}"/>
              </a:ext>
            </a:extLst>
          </p:cNvPr>
          <p:cNvPicPr>
            <a:picLocks noChangeAspect="1"/>
          </p:cNvPicPr>
          <p:nvPr/>
        </p:nvPicPr>
        <p:blipFill>
          <a:blip r:embed="rId4"/>
          <a:stretch/>
        </p:blipFill>
        <p:spPr>
          <a:xfrm>
            <a:off x="4314825" y="1962150"/>
            <a:ext cx="3524250" cy="2643188"/>
          </a:xfrm>
          <a:prstGeom prst="rect">
            <a:avLst/>
          </a:prstGeom>
        </p:spPr>
      </p:pic>
      <p:sp>
        <p:nvSpPr>
          <p:cNvPr id="9" name="Rectangle 8">
            <a:extLst>
              <a:ext uri="{FF2B5EF4-FFF2-40B4-BE49-F238E27FC236}">
                <a16:creationId xmlns:a16="http://schemas.microsoft.com/office/drawing/2014/main" id="{663380A7-A590-41E5-9979-536DE374B8C9}"/>
              </a:ext>
            </a:extLst>
          </p:cNvPr>
          <p:cNvSpPr>
            <a:spLocks noGrp="1"/>
          </p:cNvSpPr>
          <p:nvPr/>
        </p:nvSpPr>
        <p:spPr>
          <a:xfrm>
            <a:off x="8096250" y="1457325"/>
            <a:ext cx="3524250" cy="342900"/>
          </a:xfrm>
          <a:prstGeom prst="rect">
            <a:avLst/>
          </a:prstGeom>
          <a:noFill/>
          <a:ln w="0">
            <a:noFill/>
          </a:ln>
        </p:spPr>
        <p:txBody>
          <a:bodyPr wrap="square" lIns="0" tIns="0" rIns="0" bIns="0">
            <a:noAutofit/>
          </a:bodyPr>
          <a:lstStyle>
            <a:defPPr>
              <a:defRPr sz="2100" b="1">
                <a:solidFill>
                  <a:srgbClr val="172D45"/>
                </a:solidFill>
                <a:latin typeface="Arial"/>
                <a:ea typeface="Arial"/>
                <a:cs typeface="Arial"/>
              </a:defRPr>
            </a:defPPr>
          </a:lstStyle>
          <a:p>
            <a:pPr>
              <a:buNone/>
              <a:defRPr sz="2100" b="1">
                <a:solidFill>
                  <a:srgbClr val="172D45"/>
                </a:solidFill>
                <a:latin typeface="Arial"/>
                <a:ea typeface="Arial"/>
                <a:cs typeface="Arial"/>
              </a:defRPr>
            </a:pPr>
            <a:r>
              <a:rPr sz="2100" b="1">
                <a:solidFill>
                  <a:srgbClr val="172D45"/>
                </a:solidFill>
                <a:latin typeface="Arial"/>
                <a:ea typeface="Arial"/>
                <a:cs typeface="Arial"/>
              </a:rPr>
              <a:t>Release</a:t>
            </a:r>
          </a:p>
        </p:txBody>
      </p:sp>
      <p:pic>
        <p:nvPicPr>
          <p:cNvPr id="10" name="Picture 9">
            <a:extLst>
              <a:ext uri="{FF2B5EF4-FFF2-40B4-BE49-F238E27FC236}">
                <a16:creationId xmlns:a16="http://schemas.microsoft.com/office/drawing/2014/main" id="{645CCFA8-F388-48EB-B5A3-9983228604E6}"/>
              </a:ext>
            </a:extLst>
          </p:cNvPr>
          <p:cNvPicPr>
            <a:picLocks noChangeAspect="1"/>
          </p:cNvPicPr>
          <p:nvPr/>
        </p:nvPicPr>
        <p:blipFill>
          <a:blip r:embed="rId5"/>
          <a:stretch/>
        </p:blipFill>
        <p:spPr>
          <a:xfrm>
            <a:off x="8096250" y="1962150"/>
            <a:ext cx="3524250" cy="2643188"/>
          </a:xfrm>
          <a:prstGeom prst="rect">
            <a:avLst/>
          </a:prstGeom>
        </p:spPr>
      </p:pic>
      <p:sp>
        <p:nvSpPr>
          <p:cNvPr id="11" name="Rectangle 10">
            <a:extLst>
              <a:ext uri="{FF2B5EF4-FFF2-40B4-BE49-F238E27FC236}">
                <a16:creationId xmlns:a16="http://schemas.microsoft.com/office/drawing/2014/main" id="{A4FBD283-BB29-4808-AAA5-37B73435D691}"/>
              </a:ext>
            </a:extLst>
          </p:cNvPr>
          <p:cNvSpPr>
            <a:spLocks noGrp="1"/>
          </p:cNvSpPr>
          <p:nvPr/>
        </p:nvSpPr>
        <p:spPr>
          <a:xfrm>
            <a:off x="533400" y="4953000"/>
            <a:ext cx="2095500" cy="419100"/>
          </a:xfrm>
          <a:prstGeom prst="rect">
            <a:avLst/>
          </a:prstGeom>
          <a:noFill/>
          <a:ln w="0">
            <a:noFill/>
          </a:ln>
        </p:spPr>
        <p:txBody>
          <a:bodyPr wrap="square" lIns="0" tIns="0" rIns="0" bIns="0">
            <a:noAutofit/>
          </a:bodyPr>
          <a:lstStyle>
            <a:defPPr>
              <a:defRPr sz="2175" b="1">
                <a:solidFill>
                  <a:srgbClr val="167A91"/>
                </a:solidFill>
                <a:latin typeface="Arial"/>
                <a:ea typeface="Arial"/>
                <a:cs typeface="Arial"/>
              </a:defRPr>
            </a:defPPr>
          </a:lstStyle>
          <a:p>
            <a:pPr>
              <a:buNone/>
              <a:defRPr sz="2175" b="1">
                <a:solidFill>
                  <a:srgbClr val="167A91"/>
                </a:solidFill>
                <a:latin typeface="Arial"/>
                <a:ea typeface="Arial"/>
                <a:cs typeface="Arial"/>
              </a:defRPr>
            </a:pPr>
            <a:r>
              <a:rPr sz="2175" b="1">
                <a:solidFill>
                  <a:srgbClr val="167A91"/>
                </a:solidFill>
                <a:latin typeface="Arial"/>
                <a:ea typeface="Arial"/>
                <a:cs typeface="Arial"/>
              </a:rPr>
              <a:t>Vision pose</a:t>
            </a:r>
          </a:p>
        </p:txBody>
      </p:sp>
      <p:sp>
        <p:nvSpPr>
          <p:cNvPr id="12" name="Arrow: Right 11">
            <a:extLst>
              <a:ext uri="{FF2B5EF4-FFF2-40B4-BE49-F238E27FC236}">
                <a16:creationId xmlns:a16="http://schemas.microsoft.com/office/drawing/2014/main" id="{C836CB38-A3BB-4409-A976-04391C7FC775}"/>
              </a:ext>
            </a:extLst>
          </p:cNvPr>
          <p:cNvSpPr>
            <a:spLocks noGrp="1"/>
          </p:cNvSpPr>
          <p:nvPr/>
        </p:nvSpPr>
        <p:spPr>
          <a:xfrm>
            <a:off x="2667000" y="5067300"/>
            <a:ext cx="333375" cy="180975"/>
          </a:xfrm>
          <a:prstGeom prst="rightArrow">
            <a:avLst/>
          </a:prstGeom>
          <a:solidFill>
            <a:srgbClr val="167A91"/>
          </a:solidFill>
          <a:ln w="0">
            <a:noFill/>
          </a:ln>
        </p:spPr>
      </p:sp>
      <p:sp>
        <p:nvSpPr>
          <p:cNvPr id="13" name="Rectangle 12">
            <a:extLst>
              <a:ext uri="{FF2B5EF4-FFF2-40B4-BE49-F238E27FC236}">
                <a16:creationId xmlns:a16="http://schemas.microsoft.com/office/drawing/2014/main" id="{3732C972-F4C8-4A44-A4A8-D5B9262E87FC}"/>
              </a:ext>
            </a:extLst>
          </p:cNvPr>
          <p:cNvSpPr>
            <a:spLocks noGrp="1"/>
          </p:cNvSpPr>
          <p:nvPr/>
        </p:nvSpPr>
        <p:spPr>
          <a:xfrm>
            <a:off x="3152775" y="4953000"/>
            <a:ext cx="1905000" cy="419100"/>
          </a:xfrm>
          <a:prstGeom prst="rect">
            <a:avLst/>
          </a:prstGeom>
          <a:noFill/>
          <a:ln w="0">
            <a:noFill/>
          </a:ln>
        </p:spPr>
        <p:txBody>
          <a:bodyPr wrap="square" lIns="0" tIns="0" rIns="0" bIns="0">
            <a:noAutofit/>
          </a:bodyPr>
          <a:lstStyle>
            <a:defPPr>
              <a:defRPr sz="2175" b="1">
                <a:solidFill>
                  <a:srgbClr val="172D45"/>
                </a:solidFill>
                <a:latin typeface="Arial"/>
                <a:ea typeface="Arial"/>
                <a:cs typeface="Arial"/>
              </a:defRPr>
            </a:defPPr>
          </a:lstStyle>
          <a:p>
            <a:pPr>
              <a:buNone/>
              <a:defRPr sz="2175" b="1">
                <a:solidFill>
                  <a:srgbClr val="172D45"/>
                </a:solidFill>
                <a:latin typeface="Arial"/>
                <a:ea typeface="Arial"/>
                <a:cs typeface="Arial"/>
              </a:defRPr>
            </a:pPr>
            <a:r>
              <a:rPr sz="2175" b="1">
                <a:solidFill>
                  <a:srgbClr val="172D45"/>
                </a:solidFill>
                <a:latin typeface="Arial"/>
                <a:ea typeface="Arial"/>
                <a:cs typeface="Arial"/>
              </a:rPr>
              <a:t>DLS IK</a:t>
            </a:r>
          </a:p>
        </p:txBody>
      </p:sp>
      <p:sp>
        <p:nvSpPr>
          <p:cNvPr id="14" name="Arrow: Right 13">
            <a:extLst>
              <a:ext uri="{FF2B5EF4-FFF2-40B4-BE49-F238E27FC236}">
                <a16:creationId xmlns:a16="http://schemas.microsoft.com/office/drawing/2014/main" id="{2ACC4F82-B039-4378-B5BD-EFE8D038E841}"/>
              </a:ext>
            </a:extLst>
          </p:cNvPr>
          <p:cNvSpPr>
            <a:spLocks noGrp="1"/>
          </p:cNvSpPr>
          <p:nvPr/>
        </p:nvSpPr>
        <p:spPr>
          <a:xfrm>
            <a:off x="5057775" y="5067300"/>
            <a:ext cx="333375" cy="180975"/>
          </a:xfrm>
          <a:prstGeom prst="rightArrow">
            <a:avLst/>
          </a:prstGeom>
          <a:solidFill>
            <a:srgbClr val="167A91"/>
          </a:solidFill>
          <a:ln w="0">
            <a:noFill/>
          </a:ln>
        </p:spPr>
      </p:sp>
      <p:sp>
        <p:nvSpPr>
          <p:cNvPr id="15" name="Rectangle 14">
            <a:extLst>
              <a:ext uri="{FF2B5EF4-FFF2-40B4-BE49-F238E27FC236}">
                <a16:creationId xmlns:a16="http://schemas.microsoft.com/office/drawing/2014/main" id="{28B6AB2C-6B5D-4EC3-802A-32171E2ABDE9}"/>
              </a:ext>
            </a:extLst>
          </p:cNvPr>
          <p:cNvSpPr>
            <a:spLocks noGrp="1"/>
          </p:cNvSpPr>
          <p:nvPr/>
        </p:nvSpPr>
        <p:spPr>
          <a:xfrm>
            <a:off x="5562600" y="4953000"/>
            <a:ext cx="2381250" cy="419100"/>
          </a:xfrm>
          <a:prstGeom prst="rect">
            <a:avLst/>
          </a:prstGeom>
          <a:noFill/>
          <a:ln w="0">
            <a:noFill/>
          </a:ln>
        </p:spPr>
        <p:txBody>
          <a:bodyPr wrap="square" lIns="0" tIns="0" rIns="0" bIns="0">
            <a:noAutofit/>
          </a:bodyPr>
          <a:lstStyle>
            <a:defPPr>
              <a:defRPr sz="2175" b="1">
                <a:solidFill>
                  <a:srgbClr val="172D45"/>
                </a:solidFill>
                <a:latin typeface="Arial"/>
                <a:ea typeface="Arial"/>
                <a:cs typeface="Arial"/>
              </a:defRPr>
            </a:defPPr>
          </a:lstStyle>
          <a:p>
            <a:pPr>
              <a:buNone/>
              <a:defRPr sz="2175" b="1">
                <a:solidFill>
                  <a:srgbClr val="172D45"/>
                </a:solidFill>
                <a:latin typeface="Arial"/>
                <a:ea typeface="Arial"/>
                <a:cs typeface="Arial"/>
              </a:defRPr>
            </a:pPr>
            <a:r>
              <a:rPr sz="2175" b="1">
                <a:solidFill>
                  <a:srgbClr val="172D45"/>
                </a:solidFill>
                <a:latin typeface="Arial"/>
                <a:ea typeface="Arial"/>
                <a:cs typeface="Arial"/>
              </a:rPr>
              <a:t>Joint targets</a:t>
            </a:r>
          </a:p>
        </p:txBody>
      </p:sp>
      <p:sp>
        <p:nvSpPr>
          <p:cNvPr id="16" name="Arrow: Right 15">
            <a:extLst>
              <a:ext uri="{FF2B5EF4-FFF2-40B4-BE49-F238E27FC236}">
                <a16:creationId xmlns:a16="http://schemas.microsoft.com/office/drawing/2014/main" id="{6DC8BFE4-1D10-41D0-93F4-E0A334F9F798}"/>
              </a:ext>
            </a:extLst>
          </p:cNvPr>
          <p:cNvSpPr>
            <a:spLocks noGrp="1"/>
          </p:cNvSpPr>
          <p:nvPr/>
        </p:nvSpPr>
        <p:spPr>
          <a:xfrm>
            <a:off x="7896225" y="5067300"/>
            <a:ext cx="333375" cy="180975"/>
          </a:xfrm>
          <a:prstGeom prst="rightArrow">
            <a:avLst/>
          </a:prstGeom>
          <a:solidFill>
            <a:srgbClr val="167A91"/>
          </a:solidFill>
          <a:ln w="0">
            <a:noFill/>
          </a:ln>
        </p:spPr>
      </p:sp>
      <p:sp>
        <p:nvSpPr>
          <p:cNvPr id="17" name="Rectangle 16">
            <a:extLst>
              <a:ext uri="{FF2B5EF4-FFF2-40B4-BE49-F238E27FC236}">
                <a16:creationId xmlns:a16="http://schemas.microsoft.com/office/drawing/2014/main" id="{9D8DA366-F368-4518-B195-993442653BE9}"/>
              </a:ext>
            </a:extLst>
          </p:cNvPr>
          <p:cNvSpPr>
            <a:spLocks noGrp="1"/>
          </p:cNvSpPr>
          <p:nvPr/>
        </p:nvSpPr>
        <p:spPr>
          <a:xfrm>
            <a:off x="8391525" y="4953000"/>
            <a:ext cx="3267075" cy="419100"/>
          </a:xfrm>
          <a:prstGeom prst="rect">
            <a:avLst/>
          </a:prstGeom>
          <a:noFill/>
          <a:ln w="0">
            <a:noFill/>
          </a:ln>
        </p:spPr>
        <p:txBody>
          <a:bodyPr wrap="square" lIns="0" tIns="0" rIns="0" bIns="0">
            <a:noAutofit/>
          </a:bodyPr>
          <a:lstStyle>
            <a:defPPr>
              <a:defRPr sz="2175" b="1">
                <a:solidFill>
                  <a:srgbClr val="172D45"/>
                </a:solidFill>
                <a:latin typeface="Arial"/>
                <a:ea typeface="Arial"/>
                <a:cs typeface="Arial"/>
              </a:defRPr>
            </a:defPPr>
          </a:lstStyle>
          <a:p>
            <a:pPr>
              <a:buNone/>
              <a:defRPr sz="2175" b="1">
                <a:solidFill>
                  <a:srgbClr val="172D45"/>
                </a:solidFill>
                <a:latin typeface="Arial"/>
                <a:ea typeface="Arial"/>
                <a:cs typeface="Arial"/>
              </a:defRPr>
            </a:pPr>
            <a:r>
              <a:rPr sz="2175" b="1">
                <a:solidFill>
                  <a:srgbClr val="172D45"/>
                </a:solidFill>
                <a:latin typeface="Arial"/>
                <a:ea typeface="Arial"/>
                <a:cs typeface="Arial"/>
              </a:rPr>
              <a:t>Position servos</a:t>
            </a:r>
          </a:p>
        </p:txBody>
      </p:sp>
      <p:sp>
        <p:nvSpPr>
          <p:cNvPr id="18" name="Rectangle 17">
            <a:extLst>
              <a:ext uri="{FF2B5EF4-FFF2-40B4-BE49-F238E27FC236}">
                <a16:creationId xmlns:a16="http://schemas.microsoft.com/office/drawing/2014/main" id="{FFAA9069-B938-40DB-8119-77DD13273773}"/>
              </a:ext>
            </a:extLst>
          </p:cNvPr>
          <p:cNvSpPr>
            <a:spLocks noGrp="1"/>
          </p:cNvSpPr>
          <p:nvPr/>
        </p:nvSpPr>
        <p:spPr>
          <a:xfrm>
            <a:off x="533400" y="5572125"/>
            <a:ext cx="11125200" cy="381000"/>
          </a:xfrm>
          <a:prstGeom prst="rect">
            <a:avLst/>
          </a:prstGeom>
          <a:noFill/>
          <a:ln w="0">
            <a:noFill/>
          </a:ln>
        </p:spPr>
        <p:txBody>
          <a:bodyPr wrap="square" lIns="0" tIns="0" rIns="0" bIns="0">
            <a:noAutofit/>
          </a:bodyPr>
          <a:lstStyle>
            <a:defPPr>
              <a:defRPr sz="1875" b="0">
                <a:solidFill>
                  <a:srgbClr val="172D45"/>
                </a:solidFill>
                <a:latin typeface="Arial"/>
                <a:ea typeface="Arial"/>
                <a:cs typeface="Arial"/>
              </a:defRPr>
            </a:defPPr>
          </a:lstStyle>
          <a:p>
            <a:pPr>
              <a:buNone/>
              <a:defRPr sz="1875" b="0">
                <a:solidFill>
                  <a:srgbClr val="172D45"/>
                </a:solidFill>
                <a:latin typeface="Arial"/>
                <a:ea typeface="Arial"/>
                <a:cs typeface="Arial"/>
              </a:defRPr>
            </a:pPr>
            <a:r>
              <a:rPr sz="1875" b="0">
                <a:solidFill>
                  <a:srgbClr val="172D45"/>
                </a:solidFill>
                <a:latin typeface="Arial"/>
                <a:ea typeface="Arial"/>
                <a:cs typeface="Arial"/>
              </a:rPr>
              <a:t>Approach → align → descend → grasp → lift → tray → release → return</a:t>
            </a:r>
          </a:p>
        </p:txBody>
      </p:sp>
      <p:sp>
        <p:nvSpPr>
          <p:cNvPr id="19" name="Rectangle 18">
            <a:extLst>
              <a:ext uri="{FF2B5EF4-FFF2-40B4-BE49-F238E27FC236}">
                <a16:creationId xmlns:a16="http://schemas.microsoft.com/office/drawing/2014/main" id="{D781E8BA-101B-419E-8F74-6D86EF5DF2B2}"/>
              </a:ext>
            </a:extLst>
          </p:cNvPr>
          <p:cNvSpPr>
            <a:spLocks noGrp="1"/>
          </p:cNvSpPr>
          <p:nvPr/>
        </p:nvSpPr>
        <p:spPr>
          <a:xfrm>
            <a:off x="533400" y="6076950"/>
            <a:ext cx="11125200" cy="266700"/>
          </a:xfrm>
          <a:prstGeom prst="rect">
            <a:avLst/>
          </a:prstGeom>
          <a:noFill/>
          <a:ln w="0">
            <a:noFill/>
          </a:ln>
        </p:spPr>
        <p:txBody>
          <a:bodyPr wrap="square" lIns="0" tIns="0" rIns="0" bIns="0">
            <a:noAutofit/>
          </a:bodyPr>
          <a:lstStyle>
            <a:defPPr>
              <a:defRPr sz="1650" b="0">
                <a:solidFill>
                  <a:srgbClr val="167A91"/>
                </a:solidFill>
                <a:latin typeface="Arial"/>
                <a:ea typeface="Arial"/>
                <a:cs typeface="Arial"/>
              </a:defRPr>
            </a:defPPr>
          </a:lstStyle>
          <a:p>
            <a:pPr>
              <a:buNone/>
              <a:defRPr sz="1650" b="0">
                <a:solidFill>
                  <a:srgbClr val="167A91"/>
                </a:solidFill>
                <a:latin typeface="Arial"/>
                <a:ea typeface="Arial"/>
                <a:cs typeface="Arial"/>
              </a:defRPr>
            </a:pPr>
            <a:r>
              <a:rPr sz="1650" b="0">
                <a:solidFill>
                  <a:srgbClr val="167A91"/>
                </a:solidFill>
                <a:latin typeface="Arial"/>
                <a:ea typeface="Arial"/>
                <a:cs typeface="Arial"/>
              </a:rPr>
              <a:t>Finger contact, friction and gravity. No object weld or teleport.</a:t>
            </a:r>
          </a:p>
        </p:txBody>
      </p:sp>
    </p:spTree>
    <p:extLst>
      <p:ext uri="{BB962C8B-B14F-4D97-AF65-F5344CB8AC3E}">
        <p14:creationId xmlns:p14="http://schemas.microsoft.com/office/powerpoint/2010/main" val="1852342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0C465BE-A15F-4F45-AA01-32909022F79D}"/>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defRPr sz="3000" b="1">
                <a:solidFill>
                  <a:srgbClr val="172D45"/>
                </a:solidFill>
                <a:latin typeface="Arial"/>
                <a:ea typeface="Arial"/>
                <a:cs typeface="Arial"/>
              </a:defRPr>
            </a:defPPr>
          </a:lstStyle>
          <a:p>
            <a:pPr>
              <a:buNone/>
              <a:defRPr sz="3000" b="1">
                <a:solidFill>
                  <a:srgbClr val="172D45"/>
                </a:solidFill>
                <a:latin typeface="Arial"/>
                <a:ea typeface="Arial"/>
                <a:cs typeface="Arial"/>
              </a:defRPr>
            </a:pPr>
            <a:r>
              <a:rPr sz="3000" b="1">
                <a:solidFill>
                  <a:srgbClr val="172D45"/>
                </a:solidFill>
                <a:latin typeface="Arial"/>
                <a:ea typeface="Arial"/>
                <a:cs typeface="Arial"/>
              </a:rPr>
              <a:t>The same perception-to-action idea in industry</a:t>
            </a:r>
          </a:p>
        </p:txBody>
      </p:sp>
      <p:sp>
        <p:nvSpPr>
          <p:cNvPr id="2" name="Rectangle 1">
            <a:extLst>
              <a:ext uri="{FF2B5EF4-FFF2-40B4-BE49-F238E27FC236}">
                <a16:creationId xmlns:a16="http://schemas.microsoft.com/office/drawing/2014/main" id="{18BB19BC-7ADC-47A9-ADF2-D894424AEB8A}"/>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3" name="Rectangle 2">
            <a:extLst>
              <a:ext uri="{FF2B5EF4-FFF2-40B4-BE49-F238E27FC236}">
                <a16:creationId xmlns:a16="http://schemas.microsoft.com/office/drawing/2014/main" id="{496C1566-82E3-4F82-930D-D7FAE2F0FF44}"/>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defRPr sz="1125" b="0">
                <a:solidFill>
                  <a:srgbClr val="536373"/>
                </a:solidFill>
                <a:latin typeface="Arial"/>
                <a:ea typeface="Arial"/>
                <a:cs typeface="Arial"/>
              </a:defRPr>
            </a:defPPr>
          </a:lstStyle>
          <a:p>
            <a:pPr>
              <a:buNone/>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4" name="Rectangle 3">
            <a:extLst>
              <a:ext uri="{FF2B5EF4-FFF2-40B4-BE49-F238E27FC236}">
                <a16:creationId xmlns:a16="http://schemas.microsoft.com/office/drawing/2014/main" id="{4A778D7F-F6A6-40E9-8BBC-3056E85B95CB}"/>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defRPr sz="1275" b="1">
                <a:solidFill>
                  <a:srgbClr val="167A91"/>
                </a:solidFill>
                <a:latin typeface="Arial"/>
                <a:ea typeface="Arial"/>
                <a:cs typeface="Arial"/>
              </a:defRPr>
            </a:defPPr>
          </a:lstStyle>
          <a:p>
            <a:pPr>
              <a:buNone/>
              <a:defRPr sz="1275" b="1">
                <a:solidFill>
                  <a:srgbClr val="167A91"/>
                </a:solidFill>
                <a:latin typeface="Arial"/>
                <a:ea typeface="Arial"/>
                <a:cs typeface="Arial"/>
              </a:defRPr>
            </a:pPr>
            <a:r>
              <a:rPr sz="1275" b="1">
                <a:solidFill>
                  <a:srgbClr val="167A91"/>
                </a:solidFill>
                <a:latin typeface="Arial"/>
                <a:ea typeface="Arial"/>
                <a:cs typeface="Arial"/>
              </a:rPr>
              <a:t>09</a:t>
            </a:r>
          </a:p>
        </p:txBody>
      </p:sp>
      <p:sp>
        <p:nvSpPr>
          <p:cNvPr id="5" name="Rectangle 4">
            <a:extLst>
              <a:ext uri="{FF2B5EF4-FFF2-40B4-BE49-F238E27FC236}">
                <a16:creationId xmlns:a16="http://schemas.microsoft.com/office/drawing/2014/main" id="{69607CDC-FFE7-45CD-A256-C2B7372AD4B4}"/>
              </a:ext>
            </a:extLst>
          </p:cNvPr>
          <p:cNvSpPr>
            <a:spLocks noGrp="1"/>
          </p:cNvSpPr>
          <p:nvPr/>
        </p:nvSpPr>
        <p:spPr>
          <a:xfrm>
            <a:off x="533400" y="1571625"/>
            <a:ext cx="5276850" cy="409575"/>
          </a:xfrm>
          <a:prstGeom prst="rect">
            <a:avLst/>
          </a:prstGeom>
          <a:noFill/>
          <a:ln w="0">
            <a:noFill/>
          </a:ln>
        </p:spPr>
        <p:txBody>
          <a:bodyPr wrap="square" lIns="0" tIns="0" rIns="0" bIns="0">
            <a:noAutofit/>
          </a:bodyPr>
          <a:lstStyle>
            <a:defPPr>
              <a:defRPr sz="2250" b="1">
                <a:solidFill>
                  <a:srgbClr val="167A91"/>
                </a:solidFill>
                <a:latin typeface="Arial"/>
                <a:ea typeface="Arial"/>
                <a:cs typeface="Arial"/>
              </a:defRPr>
            </a:defPPr>
          </a:lstStyle>
          <a:p>
            <a:pPr>
              <a:buNone/>
              <a:defRPr sz="2250" b="1">
                <a:solidFill>
                  <a:srgbClr val="167A91"/>
                </a:solidFill>
                <a:latin typeface="Arial"/>
                <a:ea typeface="Arial"/>
                <a:cs typeface="Arial"/>
              </a:defRPr>
            </a:pPr>
            <a:r>
              <a:rPr sz="2250" b="1">
                <a:solidFill>
                  <a:srgbClr val="167A91"/>
                </a:solidFill>
                <a:latin typeface="Arial"/>
                <a:ea typeface="Arial"/>
                <a:cs typeface="Arial"/>
              </a:rPr>
              <a:t>Real robotics applications</a:t>
            </a:r>
          </a:p>
        </p:txBody>
      </p:sp>
      <p:sp>
        <p:nvSpPr>
          <p:cNvPr id="6" name="Rectangle 5">
            <a:extLst>
              <a:ext uri="{FF2B5EF4-FFF2-40B4-BE49-F238E27FC236}">
                <a16:creationId xmlns:a16="http://schemas.microsoft.com/office/drawing/2014/main" id="{24BD35FD-B78D-487F-8D15-CAE4D34CFD28}"/>
              </a:ext>
            </a:extLst>
          </p:cNvPr>
          <p:cNvSpPr>
            <a:spLocks noGrp="1"/>
          </p:cNvSpPr>
          <p:nvPr/>
        </p:nvSpPr>
        <p:spPr>
          <a:xfrm>
            <a:off x="6419850" y="1571625"/>
            <a:ext cx="5238750" cy="409575"/>
          </a:xfrm>
          <a:prstGeom prst="rect">
            <a:avLst/>
          </a:prstGeom>
          <a:noFill/>
          <a:ln w="0">
            <a:noFill/>
          </a:ln>
        </p:spPr>
        <p:txBody>
          <a:bodyPr wrap="square" lIns="0" tIns="0" rIns="0" bIns="0">
            <a:noAutofit/>
          </a:bodyPr>
          <a:lstStyle>
            <a:defPPr>
              <a:defRPr sz="2250" b="1">
                <a:solidFill>
                  <a:srgbClr val="167A91"/>
                </a:solidFill>
                <a:latin typeface="Arial"/>
                <a:ea typeface="Arial"/>
                <a:cs typeface="Arial"/>
              </a:defRPr>
            </a:defPPr>
          </a:lstStyle>
          <a:p>
            <a:pPr>
              <a:buNone/>
              <a:defRPr sz="2250" b="1">
                <a:solidFill>
                  <a:srgbClr val="167A91"/>
                </a:solidFill>
                <a:latin typeface="Arial"/>
                <a:ea typeface="Arial"/>
                <a:cs typeface="Arial"/>
              </a:defRPr>
            </a:pPr>
            <a:r>
              <a:rPr sz="2250" b="1">
                <a:solidFill>
                  <a:srgbClr val="167A91"/>
                </a:solidFill>
                <a:latin typeface="Arial"/>
                <a:ea typeface="Arial"/>
                <a:cs typeface="Arial"/>
              </a:rPr>
              <a:t>This classroom simulation</a:t>
            </a:r>
          </a:p>
        </p:txBody>
      </p:sp>
      <p:sp>
        <p:nvSpPr>
          <p:cNvPr id="7" name="Rectangle 6">
            <a:extLst>
              <a:ext uri="{FF2B5EF4-FFF2-40B4-BE49-F238E27FC236}">
                <a16:creationId xmlns:a16="http://schemas.microsoft.com/office/drawing/2014/main" id="{6EA5BAC4-2E96-4696-A580-138E0E02706A}"/>
              </a:ext>
            </a:extLst>
          </p:cNvPr>
          <p:cNvSpPr>
            <a:spLocks noGrp="1"/>
          </p:cNvSpPr>
          <p:nvPr/>
        </p:nvSpPr>
        <p:spPr>
          <a:xfrm>
            <a:off x="533400" y="2200275"/>
            <a:ext cx="11125200" cy="9525"/>
          </a:xfrm>
          <a:prstGeom prst="rect">
            <a:avLst/>
          </a:prstGeom>
          <a:solidFill>
            <a:srgbClr val="D8E1E8"/>
          </a:solidFill>
          <a:ln w="9525">
            <a:solidFill>
              <a:srgbClr val="D8E1E8"/>
            </a:solidFill>
          </a:ln>
        </p:spPr>
      </p:sp>
      <p:sp>
        <p:nvSpPr>
          <p:cNvPr id="8" name="Rectangle 7">
            <a:extLst>
              <a:ext uri="{FF2B5EF4-FFF2-40B4-BE49-F238E27FC236}">
                <a16:creationId xmlns:a16="http://schemas.microsoft.com/office/drawing/2014/main" id="{84277586-12B9-4FF6-90D5-08C826806789}"/>
              </a:ext>
            </a:extLst>
          </p:cNvPr>
          <p:cNvSpPr>
            <a:spLocks noGrp="1"/>
          </p:cNvSpPr>
          <p:nvPr/>
        </p:nvSpPr>
        <p:spPr>
          <a:xfrm>
            <a:off x="533400" y="2457450"/>
            <a:ext cx="5276850" cy="590550"/>
          </a:xfrm>
          <a:prstGeom prst="rect">
            <a:avLst/>
          </a:prstGeom>
          <a:noFill/>
          <a:ln w="0">
            <a:noFill/>
          </a:ln>
        </p:spPr>
        <p:txBody>
          <a:bodyPr wrap="square" lIns="0" tIns="0" rIns="0" bIns="0">
            <a:noAutofit/>
          </a:bodyPr>
          <a:lstStyle>
            <a:defPPr>
              <a:defRPr sz="2100" b="0">
                <a:solidFill>
                  <a:srgbClr val="172D45"/>
                </a:solidFill>
                <a:latin typeface="Arial"/>
                <a:ea typeface="Arial"/>
                <a:cs typeface="Arial"/>
              </a:defRPr>
            </a:defPPr>
          </a:lstStyle>
          <a:p>
            <a:pPr>
              <a:buNone/>
              <a:defRPr sz="2100" b="0">
                <a:solidFill>
                  <a:srgbClr val="172D45"/>
                </a:solidFill>
                <a:latin typeface="Arial"/>
                <a:ea typeface="Arial"/>
                <a:cs typeface="Arial"/>
              </a:defRPr>
            </a:pPr>
            <a:r>
              <a:rPr sz="2100" b="0">
                <a:solidFill>
                  <a:srgbClr val="172D45"/>
                </a:solidFill>
                <a:latin typeface="Arial"/>
                <a:ea typeface="Arial"/>
                <a:cs typeface="Arial"/>
              </a:rPr>
              <a:t>Workpiece location and robot guidance</a:t>
            </a:r>
          </a:p>
        </p:txBody>
      </p:sp>
      <p:sp>
        <p:nvSpPr>
          <p:cNvPr id="9" name="Rectangle 8">
            <a:extLst>
              <a:ext uri="{FF2B5EF4-FFF2-40B4-BE49-F238E27FC236}">
                <a16:creationId xmlns:a16="http://schemas.microsoft.com/office/drawing/2014/main" id="{0FAA9DFC-0F19-41D7-B948-EB2A814F7D89}"/>
              </a:ext>
            </a:extLst>
          </p:cNvPr>
          <p:cNvSpPr>
            <a:spLocks noGrp="1"/>
          </p:cNvSpPr>
          <p:nvPr/>
        </p:nvSpPr>
        <p:spPr>
          <a:xfrm>
            <a:off x="6419850" y="2457450"/>
            <a:ext cx="5238750" cy="590550"/>
          </a:xfrm>
          <a:prstGeom prst="rect">
            <a:avLst/>
          </a:prstGeom>
          <a:noFill/>
          <a:ln w="0">
            <a:noFill/>
          </a:ln>
        </p:spPr>
        <p:txBody>
          <a:bodyPr wrap="square" lIns="0" tIns="0" rIns="0" bIns="0">
            <a:noAutofit/>
          </a:bodyPr>
          <a:lstStyle>
            <a:defPPr>
              <a:defRPr sz="2100" b="0">
                <a:solidFill>
                  <a:srgbClr val="172D45"/>
                </a:solidFill>
                <a:latin typeface="Arial"/>
                <a:ea typeface="Arial"/>
                <a:cs typeface="Arial"/>
              </a:defRPr>
            </a:defPPr>
          </a:lstStyle>
          <a:p>
            <a:pPr>
              <a:buNone/>
              <a:defRPr sz="2100" b="0">
                <a:solidFill>
                  <a:srgbClr val="172D45"/>
                </a:solidFill>
                <a:latin typeface="Arial"/>
                <a:ea typeface="Arial"/>
                <a:cs typeface="Arial"/>
              </a:defRPr>
            </a:pPr>
            <a:r>
              <a:rPr sz="2100" b="0">
                <a:solidFill>
                  <a:srgbClr val="172D45"/>
                </a:solidFill>
                <a:latin typeface="Arial"/>
                <a:ea typeface="Arial"/>
                <a:cs typeface="Arial"/>
              </a:rPr>
              <a:t>HSV color + rectangular contours</a:t>
            </a:r>
          </a:p>
        </p:txBody>
      </p:sp>
      <p:sp>
        <p:nvSpPr>
          <p:cNvPr id="10" name="Rectangle 9">
            <a:extLst>
              <a:ext uri="{FF2B5EF4-FFF2-40B4-BE49-F238E27FC236}">
                <a16:creationId xmlns:a16="http://schemas.microsoft.com/office/drawing/2014/main" id="{3F5372E1-D3A7-4753-AF45-7C1097122D7A}"/>
              </a:ext>
            </a:extLst>
          </p:cNvPr>
          <p:cNvSpPr>
            <a:spLocks noGrp="1"/>
          </p:cNvSpPr>
          <p:nvPr/>
        </p:nvSpPr>
        <p:spPr>
          <a:xfrm>
            <a:off x="533400" y="3190875"/>
            <a:ext cx="11125200" cy="9525"/>
          </a:xfrm>
          <a:prstGeom prst="rect">
            <a:avLst/>
          </a:prstGeom>
          <a:solidFill>
            <a:srgbClr val="D8E1E8"/>
          </a:solidFill>
          <a:ln w="9525">
            <a:solidFill>
              <a:srgbClr val="D8E1E8"/>
            </a:solidFill>
          </a:ln>
        </p:spPr>
      </p:sp>
      <p:sp>
        <p:nvSpPr>
          <p:cNvPr id="11" name="Rectangle 10">
            <a:extLst>
              <a:ext uri="{FF2B5EF4-FFF2-40B4-BE49-F238E27FC236}">
                <a16:creationId xmlns:a16="http://schemas.microsoft.com/office/drawing/2014/main" id="{37D502A6-42CC-41B3-80C3-9379DE06FCAA}"/>
              </a:ext>
            </a:extLst>
          </p:cNvPr>
          <p:cNvSpPr>
            <a:spLocks noGrp="1"/>
          </p:cNvSpPr>
          <p:nvPr/>
        </p:nvSpPr>
        <p:spPr>
          <a:xfrm>
            <a:off x="533400" y="3448050"/>
            <a:ext cx="5276850" cy="590550"/>
          </a:xfrm>
          <a:prstGeom prst="rect">
            <a:avLst/>
          </a:prstGeom>
          <a:noFill/>
          <a:ln w="0">
            <a:noFill/>
          </a:ln>
        </p:spPr>
        <p:txBody>
          <a:bodyPr wrap="square" lIns="0" tIns="0" rIns="0" bIns="0">
            <a:noAutofit/>
          </a:bodyPr>
          <a:lstStyle>
            <a:defPPr>
              <a:defRPr sz="2100" b="0">
                <a:solidFill>
                  <a:srgbClr val="172D45"/>
                </a:solidFill>
                <a:latin typeface="Arial"/>
                <a:ea typeface="Arial"/>
                <a:cs typeface="Arial"/>
              </a:defRPr>
            </a:defPPr>
          </a:lstStyle>
          <a:p>
            <a:pPr>
              <a:buNone/>
              <a:defRPr sz="2100" b="0">
                <a:solidFill>
                  <a:srgbClr val="172D45"/>
                </a:solidFill>
                <a:latin typeface="Arial"/>
                <a:ea typeface="Arial"/>
                <a:cs typeface="Arial"/>
              </a:defRPr>
            </a:pPr>
            <a:r>
              <a:rPr sz="2100" b="0">
                <a:solidFill>
                  <a:srgbClr val="172D45"/>
                </a:solidFill>
                <a:latin typeface="Arial"/>
                <a:ea typeface="Arial"/>
                <a:cs typeface="Arial"/>
              </a:rPr>
              <a:t>Vision-guided picking and packing</a:t>
            </a:r>
          </a:p>
        </p:txBody>
      </p:sp>
      <p:sp>
        <p:nvSpPr>
          <p:cNvPr id="12" name="Rectangle 11">
            <a:extLst>
              <a:ext uri="{FF2B5EF4-FFF2-40B4-BE49-F238E27FC236}">
                <a16:creationId xmlns:a16="http://schemas.microsoft.com/office/drawing/2014/main" id="{46E3D2AE-BAAA-4809-A2B1-7C05228F15D9}"/>
              </a:ext>
            </a:extLst>
          </p:cNvPr>
          <p:cNvSpPr>
            <a:spLocks noGrp="1"/>
          </p:cNvSpPr>
          <p:nvPr/>
        </p:nvSpPr>
        <p:spPr>
          <a:xfrm>
            <a:off x="6419850" y="3448050"/>
            <a:ext cx="5238750" cy="590550"/>
          </a:xfrm>
          <a:prstGeom prst="rect">
            <a:avLst/>
          </a:prstGeom>
          <a:noFill/>
          <a:ln w="0">
            <a:noFill/>
          </a:ln>
        </p:spPr>
        <p:txBody>
          <a:bodyPr wrap="square" lIns="0" tIns="0" rIns="0" bIns="0">
            <a:noAutofit/>
          </a:bodyPr>
          <a:lstStyle>
            <a:defPPr>
              <a:defRPr sz="2100" b="0">
                <a:solidFill>
                  <a:srgbClr val="172D45"/>
                </a:solidFill>
                <a:latin typeface="Arial"/>
                <a:ea typeface="Arial"/>
                <a:cs typeface="Arial"/>
              </a:defRPr>
            </a:defPPr>
          </a:lstStyle>
          <a:p>
            <a:pPr>
              <a:buNone/>
              <a:defRPr sz="2100" b="0">
                <a:solidFill>
                  <a:srgbClr val="172D45"/>
                </a:solidFill>
                <a:latin typeface="Arial"/>
                <a:ea typeface="Arial"/>
                <a:cs typeface="Arial"/>
              </a:defRPr>
            </a:pPr>
            <a:r>
              <a:rPr sz="2100" b="0">
                <a:solidFill>
                  <a:srgbClr val="172D45"/>
                </a:solidFill>
                <a:latin typeface="Arial"/>
                <a:ea typeface="Arial"/>
                <a:cs typeface="Arial"/>
              </a:rPr>
              <a:t>Known top plane + fixed RGB camera</a:t>
            </a:r>
          </a:p>
        </p:txBody>
      </p:sp>
      <p:sp>
        <p:nvSpPr>
          <p:cNvPr id="13" name="Rectangle 12">
            <a:extLst>
              <a:ext uri="{FF2B5EF4-FFF2-40B4-BE49-F238E27FC236}">
                <a16:creationId xmlns:a16="http://schemas.microsoft.com/office/drawing/2014/main" id="{B48CDC9F-69F1-4A3F-9D7C-EE8B6EBF0C62}"/>
              </a:ext>
            </a:extLst>
          </p:cNvPr>
          <p:cNvSpPr>
            <a:spLocks noGrp="1"/>
          </p:cNvSpPr>
          <p:nvPr/>
        </p:nvSpPr>
        <p:spPr>
          <a:xfrm>
            <a:off x="533400" y="4181475"/>
            <a:ext cx="11125200" cy="9525"/>
          </a:xfrm>
          <a:prstGeom prst="rect">
            <a:avLst/>
          </a:prstGeom>
          <a:solidFill>
            <a:srgbClr val="D8E1E8"/>
          </a:solidFill>
          <a:ln w="9525">
            <a:solidFill>
              <a:srgbClr val="D8E1E8"/>
            </a:solidFill>
          </a:ln>
        </p:spPr>
      </p:sp>
      <p:sp>
        <p:nvSpPr>
          <p:cNvPr id="14" name="Rectangle 13">
            <a:extLst>
              <a:ext uri="{FF2B5EF4-FFF2-40B4-BE49-F238E27FC236}">
                <a16:creationId xmlns:a16="http://schemas.microsoft.com/office/drawing/2014/main" id="{FF97CC94-70AA-4F32-84E6-F2E39460626A}"/>
              </a:ext>
            </a:extLst>
          </p:cNvPr>
          <p:cNvSpPr>
            <a:spLocks noGrp="1"/>
          </p:cNvSpPr>
          <p:nvPr/>
        </p:nvSpPr>
        <p:spPr>
          <a:xfrm>
            <a:off x="533400" y="4438650"/>
            <a:ext cx="5276850" cy="590550"/>
          </a:xfrm>
          <a:prstGeom prst="rect">
            <a:avLst/>
          </a:prstGeom>
          <a:noFill/>
          <a:ln w="0">
            <a:noFill/>
          </a:ln>
        </p:spPr>
        <p:txBody>
          <a:bodyPr wrap="square" lIns="0" tIns="0" rIns="0" bIns="0">
            <a:noAutofit/>
          </a:bodyPr>
          <a:lstStyle>
            <a:defPPr>
              <a:defRPr sz="2100" b="0">
                <a:solidFill>
                  <a:srgbClr val="172D45"/>
                </a:solidFill>
                <a:latin typeface="Arial"/>
                <a:ea typeface="Arial"/>
                <a:cs typeface="Arial"/>
              </a:defRPr>
            </a:defPPr>
          </a:lstStyle>
          <a:p>
            <a:pPr>
              <a:buNone/>
              <a:defRPr sz="2100" b="0">
                <a:solidFill>
                  <a:srgbClr val="172D45"/>
                </a:solidFill>
                <a:latin typeface="Arial"/>
                <a:ea typeface="Arial"/>
                <a:cs typeface="Arial"/>
              </a:defRPr>
            </a:pPr>
            <a:r>
              <a:rPr sz="2100" b="0">
                <a:solidFill>
                  <a:srgbClr val="172D45"/>
                </a:solidFill>
                <a:latin typeface="Arial"/>
                <a:ea typeface="Arial"/>
                <a:cs typeface="Arial"/>
              </a:rPr>
              <a:t>Warehouse item picking</a:t>
            </a:r>
          </a:p>
        </p:txBody>
      </p:sp>
      <p:sp>
        <p:nvSpPr>
          <p:cNvPr id="15" name="Rectangle 14">
            <a:extLst>
              <a:ext uri="{FF2B5EF4-FFF2-40B4-BE49-F238E27FC236}">
                <a16:creationId xmlns:a16="http://schemas.microsoft.com/office/drawing/2014/main" id="{1FDF5E9F-C4A8-4D12-9E09-0A7246FFCB0C}"/>
              </a:ext>
            </a:extLst>
          </p:cNvPr>
          <p:cNvSpPr>
            <a:spLocks noGrp="1"/>
          </p:cNvSpPr>
          <p:nvPr/>
        </p:nvSpPr>
        <p:spPr>
          <a:xfrm>
            <a:off x="6419850" y="4438650"/>
            <a:ext cx="5238750" cy="590550"/>
          </a:xfrm>
          <a:prstGeom prst="rect">
            <a:avLst/>
          </a:prstGeom>
          <a:noFill/>
          <a:ln w="0">
            <a:noFill/>
          </a:ln>
        </p:spPr>
        <p:txBody>
          <a:bodyPr wrap="square" lIns="0" tIns="0" rIns="0" bIns="0">
            <a:noAutofit/>
          </a:bodyPr>
          <a:lstStyle>
            <a:defPPr>
              <a:defRPr sz="2100" b="0">
                <a:solidFill>
                  <a:srgbClr val="172D45"/>
                </a:solidFill>
                <a:latin typeface="Arial"/>
                <a:ea typeface="Arial"/>
                <a:cs typeface="Arial"/>
              </a:defRPr>
            </a:defPPr>
          </a:lstStyle>
          <a:p>
            <a:pPr>
              <a:buNone/>
              <a:defRPr sz="2100" b="0">
                <a:solidFill>
                  <a:srgbClr val="172D45"/>
                </a:solidFill>
                <a:latin typeface="Arial"/>
                <a:ea typeface="Arial"/>
                <a:cs typeface="Arial"/>
              </a:defRPr>
            </a:pPr>
            <a:r>
              <a:rPr sz="2100" b="0">
                <a:solidFill>
                  <a:srgbClr val="172D45"/>
                </a:solidFill>
                <a:latin typeface="Arial"/>
                <a:ea typeface="Arial"/>
                <a:cs typeface="Arial"/>
              </a:rPr>
              <a:t>Simulated Panda + two-finger contact</a:t>
            </a:r>
          </a:p>
        </p:txBody>
      </p:sp>
      <p:sp>
        <p:nvSpPr>
          <p:cNvPr id="16" name="Rectangle 15">
            <a:extLst>
              <a:ext uri="{FF2B5EF4-FFF2-40B4-BE49-F238E27FC236}">
                <a16:creationId xmlns:a16="http://schemas.microsoft.com/office/drawing/2014/main" id="{BA0B98A1-B733-4873-9119-2FCDE85CE9A3}"/>
              </a:ext>
            </a:extLst>
          </p:cNvPr>
          <p:cNvSpPr>
            <a:spLocks noGrp="1"/>
          </p:cNvSpPr>
          <p:nvPr/>
        </p:nvSpPr>
        <p:spPr>
          <a:xfrm>
            <a:off x="533400" y="5543550"/>
            <a:ext cx="11125200" cy="619125"/>
          </a:xfrm>
          <a:prstGeom prst="rect">
            <a:avLst/>
          </a:prstGeom>
          <a:noFill/>
          <a:ln w="0">
            <a:noFill/>
          </a:ln>
        </p:spPr>
        <p:txBody>
          <a:bodyPr wrap="square" lIns="0" tIns="0" rIns="0" bIns="0">
            <a:noAutofit/>
          </a:bodyPr>
          <a:lstStyle>
            <a:defPPr>
              <a:defRPr sz="1875" b="0">
                <a:solidFill>
                  <a:srgbClr val="172D45"/>
                </a:solidFill>
                <a:latin typeface="Arial"/>
                <a:ea typeface="Arial"/>
                <a:cs typeface="Arial"/>
              </a:defRPr>
            </a:defPPr>
          </a:lstStyle>
          <a:p>
            <a:pPr>
              <a:buNone/>
              <a:defRPr sz="1875" b="0">
                <a:solidFill>
                  <a:srgbClr val="172D45"/>
                </a:solidFill>
                <a:latin typeface="Arial"/>
                <a:ea typeface="Arial"/>
                <a:cs typeface="Arial"/>
              </a:defRPr>
            </a:pPr>
            <a:r>
              <a:rPr sz="1875" b="0">
                <a:solidFill>
                  <a:srgbClr val="172D45"/>
                </a:solidFill>
                <a:latin typeface="Arial"/>
                <a:ea typeface="Arial"/>
                <a:cs typeface="Arial"/>
              </a:rPr>
              <a:t>Industrial systems may add depth, learned perception, conveyor tracking and suction tools.</a:t>
            </a:r>
          </a:p>
        </p:txBody>
      </p:sp>
      <p:sp>
        <p:nvSpPr>
          <p:cNvPr id="17" name="Rectangle 16">
            <a:extLst>
              <a:ext uri="{FF2B5EF4-FFF2-40B4-BE49-F238E27FC236}">
                <a16:creationId xmlns:a16="http://schemas.microsoft.com/office/drawing/2014/main" id="{2EAC0222-CD4B-40E4-8A30-8E245AFD0E3E}"/>
              </a:ext>
            </a:extLst>
          </p:cNvPr>
          <p:cNvSpPr>
            <a:spLocks noGrp="1"/>
          </p:cNvSpPr>
          <p:nvPr/>
        </p:nvSpPr>
        <p:spPr>
          <a:xfrm>
            <a:off x="533400" y="6219825"/>
            <a:ext cx="11125200" cy="228600"/>
          </a:xfrm>
          <a:prstGeom prst="rect">
            <a:avLst/>
          </a:prstGeom>
          <a:noFill/>
          <a:ln w="0">
            <a:noFill/>
          </a:ln>
        </p:spPr>
        <p:txBody>
          <a:bodyPr wrap="square" lIns="0" tIns="0" rIns="0" bIns="0">
            <a:noAutofit/>
          </a:bodyPr>
          <a:lstStyle>
            <a:defPPr>
              <a:defRPr sz="1350" b="0">
                <a:solidFill>
                  <a:srgbClr val="536373"/>
                </a:solidFill>
                <a:latin typeface="Arial"/>
                <a:ea typeface="Arial"/>
                <a:cs typeface="Arial"/>
              </a:defRPr>
            </a:defPPr>
          </a:lstStyle>
          <a:p>
            <a:pPr>
              <a:buNone/>
              <a:defRPr sz="1350" b="0">
                <a:solidFill>
                  <a:srgbClr val="536373"/>
                </a:solidFill>
                <a:latin typeface="Arial"/>
                <a:ea typeface="Arial"/>
                <a:cs typeface="Arial"/>
              </a:defRPr>
            </a:pPr>
            <a:r>
              <a:rPr sz="1350" b="0">
                <a:solidFill>
                  <a:srgbClr val="536373"/>
                </a:solidFill>
                <a:latin typeface="Arial"/>
                <a:ea typeface="Arial"/>
                <a:cs typeface="Arial"/>
              </a:rPr>
              <a:t>Sources: ABB Vision Systems; ABB Robotic Item Picker. Links in speaker notes.</a:t>
            </a:r>
          </a:p>
        </p:txBody>
      </p:sp>
    </p:spTree>
    <p:extLst>
      <p:ext uri="{BB962C8B-B14F-4D97-AF65-F5344CB8AC3E}">
        <p14:creationId xmlns:p14="http://schemas.microsoft.com/office/powerpoint/2010/main" val="271533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B25E995-851D-4D3B-B21D-7F2888D0A34A}"/>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defRPr sz="3000" b="1">
                <a:solidFill>
                  <a:srgbClr val="172D45"/>
                </a:solidFill>
                <a:latin typeface="Arial"/>
                <a:ea typeface="Arial"/>
                <a:cs typeface="Arial"/>
              </a:defRPr>
            </a:defPPr>
          </a:lstStyle>
          <a:p>
            <a:pPr>
              <a:buNone/>
              <a:defRPr sz="3000" b="1">
                <a:solidFill>
                  <a:srgbClr val="172D45"/>
                </a:solidFill>
                <a:latin typeface="Arial"/>
                <a:ea typeface="Arial"/>
                <a:cs typeface="Arial"/>
              </a:defRPr>
            </a:pPr>
            <a:r>
              <a:rPr sz="3000" b="1">
                <a:solidFill>
                  <a:srgbClr val="172D45"/>
                </a:solidFill>
                <a:latin typeface="Arial"/>
                <a:ea typeface="Arial"/>
                <a:cs typeface="Arial"/>
              </a:rPr>
              <a:t>Measured results and practical limits</a:t>
            </a:r>
          </a:p>
        </p:txBody>
      </p:sp>
      <p:sp>
        <p:nvSpPr>
          <p:cNvPr id="2" name="Rectangle 1">
            <a:extLst>
              <a:ext uri="{FF2B5EF4-FFF2-40B4-BE49-F238E27FC236}">
                <a16:creationId xmlns:a16="http://schemas.microsoft.com/office/drawing/2014/main" id="{761D8AEC-2D37-4409-B9C6-F120C0EB6498}"/>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3" name="Rectangle 2">
            <a:extLst>
              <a:ext uri="{FF2B5EF4-FFF2-40B4-BE49-F238E27FC236}">
                <a16:creationId xmlns:a16="http://schemas.microsoft.com/office/drawing/2014/main" id="{F7FBE47B-DAB6-4688-AC6B-5B8A7487E84F}"/>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defRPr sz="1125" b="0">
                <a:solidFill>
                  <a:srgbClr val="536373"/>
                </a:solidFill>
                <a:latin typeface="Arial"/>
                <a:ea typeface="Arial"/>
                <a:cs typeface="Arial"/>
              </a:defRPr>
            </a:defPPr>
          </a:lstStyle>
          <a:p>
            <a:pPr>
              <a:buNone/>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4" name="Rectangle 3">
            <a:extLst>
              <a:ext uri="{FF2B5EF4-FFF2-40B4-BE49-F238E27FC236}">
                <a16:creationId xmlns:a16="http://schemas.microsoft.com/office/drawing/2014/main" id="{0D90CF30-E1F3-46E4-BF6B-0827FC28C872}"/>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defRPr sz="1275" b="1">
                <a:solidFill>
                  <a:srgbClr val="167A91"/>
                </a:solidFill>
                <a:latin typeface="Arial"/>
                <a:ea typeface="Arial"/>
                <a:cs typeface="Arial"/>
              </a:defRPr>
            </a:defPPr>
          </a:lstStyle>
          <a:p>
            <a:pPr>
              <a:buNone/>
              <a:defRPr sz="1275" b="1">
                <a:solidFill>
                  <a:srgbClr val="167A91"/>
                </a:solidFill>
                <a:latin typeface="Arial"/>
                <a:ea typeface="Arial"/>
                <a:cs typeface="Arial"/>
              </a:defRPr>
            </a:pPr>
            <a:r>
              <a:rPr sz="1275" b="1">
                <a:solidFill>
                  <a:srgbClr val="167A91"/>
                </a:solidFill>
                <a:latin typeface="Arial"/>
                <a:ea typeface="Arial"/>
                <a:cs typeface="Arial"/>
              </a:rPr>
              <a:t>10</a:t>
            </a:r>
          </a:p>
        </p:txBody>
      </p:sp>
      <p:sp>
        <p:nvSpPr>
          <p:cNvPr id="5" name="Rectangle 4">
            <a:extLst>
              <a:ext uri="{FF2B5EF4-FFF2-40B4-BE49-F238E27FC236}">
                <a16:creationId xmlns:a16="http://schemas.microsoft.com/office/drawing/2014/main" id="{AEDE87DF-5D30-4FDB-A74C-0AB6AAFFED92}"/>
              </a:ext>
            </a:extLst>
          </p:cNvPr>
          <p:cNvSpPr>
            <a:spLocks noGrp="1"/>
          </p:cNvSpPr>
          <p:nvPr/>
        </p:nvSpPr>
        <p:spPr>
          <a:xfrm>
            <a:off x="533400" y="1571625"/>
            <a:ext cx="2609850" cy="752475"/>
          </a:xfrm>
          <a:prstGeom prst="rect">
            <a:avLst/>
          </a:prstGeom>
          <a:noFill/>
          <a:ln w="0">
            <a:noFill/>
          </a:ln>
        </p:spPr>
        <p:txBody>
          <a:bodyPr wrap="square" lIns="0" tIns="0" rIns="0" bIns="0">
            <a:noAutofit/>
          </a:bodyPr>
          <a:lstStyle>
            <a:defPPr>
              <a:defRPr sz="3750" b="1">
                <a:solidFill>
                  <a:srgbClr val="167A91"/>
                </a:solidFill>
                <a:latin typeface="Arial"/>
                <a:ea typeface="Arial"/>
                <a:cs typeface="Arial"/>
              </a:defRPr>
            </a:defPPr>
          </a:lstStyle>
          <a:p>
            <a:pPr>
              <a:buNone/>
              <a:defRPr sz="3750" b="1">
                <a:solidFill>
                  <a:srgbClr val="167A91"/>
                </a:solidFill>
                <a:latin typeface="Arial"/>
                <a:ea typeface="Arial"/>
                <a:cs typeface="Arial"/>
              </a:defRPr>
            </a:pPr>
            <a:r>
              <a:rPr sz="3750" b="1">
                <a:solidFill>
                  <a:srgbClr val="167A91"/>
                </a:solidFill>
                <a:latin typeface="Arial"/>
                <a:ea typeface="Arial"/>
                <a:cs typeface="Arial"/>
              </a:rPr>
              <a:t>10 / 10</a:t>
            </a:r>
          </a:p>
        </p:txBody>
      </p:sp>
      <p:sp>
        <p:nvSpPr>
          <p:cNvPr id="6" name="Rectangle 5">
            <a:extLst>
              <a:ext uri="{FF2B5EF4-FFF2-40B4-BE49-F238E27FC236}">
                <a16:creationId xmlns:a16="http://schemas.microsoft.com/office/drawing/2014/main" id="{631AAFE3-6E7D-41E1-8D94-EFA8FACB1C35}"/>
              </a:ext>
            </a:extLst>
          </p:cNvPr>
          <p:cNvSpPr>
            <a:spLocks noGrp="1"/>
          </p:cNvSpPr>
          <p:nvPr/>
        </p:nvSpPr>
        <p:spPr>
          <a:xfrm>
            <a:off x="533400" y="2428875"/>
            <a:ext cx="2609850" cy="57150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Physical picks</a:t>
            </a:r>
          </a:p>
        </p:txBody>
      </p:sp>
      <p:sp>
        <p:nvSpPr>
          <p:cNvPr id="7" name="Rectangle 6">
            <a:extLst>
              <a:ext uri="{FF2B5EF4-FFF2-40B4-BE49-F238E27FC236}">
                <a16:creationId xmlns:a16="http://schemas.microsoft.com/office/drawing/2014/main" id="{CFA14196-CBEF-4193-B3F3-A9E105BE2CFC}"/>
              </a:ext>
            </a:extLst>
          </p:cNvPr>
          <p:cNvSpPr>
            <a:spLocks noGrp="1"/>
          </p:cNvSpPr>
          <p:nvPr/>
        </p:nvSpPr>
        <p:spPr>
          <a:xfrm>
            <a:off x="3371850" y="1571625"/>
            <a:ext cx="2609850" cy="752475"/>
          </a:xfrm>
          <a:prstGeom prst="rect">
            <a:avLst/>
          </a:prstGeom>
          <a:noFill/>
          <a:ln w="0">
            <a:noFill/>
          </a:ln>
        </p:spPr>
        <p:txBody>
          <a:bodyPr wrap="square" lIns="0" tIns="0" rIns="0" bIns="0">
            <a:noAutofit/>
          </a:bodyPr>
          <a:lstStyle>
            <a:defPPr>
              <a:defRPr sz="3750" b="1">
                <a:solidFill>
                  <a:srgbClr val="167A91"/>
                </a:solidFill>
                <a:latin typeface="Arial"/>
                <a:ea typeface="Arial"/>
                <a:cs typeface="Arial"/>
              </a:defRPr>
            </a:defPPr>
          </a:lstStyle>
          <a:p>
            <a:pPr>
              <a:buNone/>
              <a:defRPr sz="3750" b="1">
                <a:solidFill>
                  <a:srgbClr val="167A91"/>
                </a:solidFill>
                <a:latin typeface="Arial"/>
                <a:ea typeface="Arial"/>
                <a:cs typeface="Arial"/>
              </a:defRPr>
            </a:pPr>
            <a:r>
              <a:rPr sz="3750" b="1">
                <a:solidFill>
                  <a:srgbClr val="167A91"/>
                </a:solidFill>
                <a:latin typeface="Arial"/>
                <a:ea typeface="Arial"/>
                <a:cs typeface="Arial"/>
              </a:rPr>
              <a:t>0.200 cm</a:t>
            </a:r>
          </a:p>
        </p:txBody>
      </p:sp>
      <p:sp>
        <p:nvSpPr>
          <p:cNvPr id="8" name="Rectangle 7">
            <a:extLst>
              <a:ext uri="{FF2B5EF4-FFF2-40B4-BE49-F238E27FC236}">
                <a16:creationId xmlns:a16="http://schemas.microsoft.com/office/drawing/2014/main" id="{2A4BC338-42E2-4AF2-B4C0-8BCF8D18375B}"/>
              </a:ext>
            </a:extLst>
          </p:cNvPr>
          <p:cNvSpPr>
            <a:spLocks noGrp="1"/>
          </p:cNvSpPr>
          <p:nvPr/>
        </p:nvSpPr>
        <p:spPr>
          <a:xfrm>
            <a:off x="3371850" y="2428875"/>
            <a:ext cx="2609850" cy="57150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Mean position error</a:t>
            </a:r>
          </a:p>
        </p:txBody>
      </p:sp>
      <p:sp>
        <p:nvSpPr>
          <p:cNvPr id="9" name="Rectangle 8">
            <a:extLst>
              <a:ext uri="{FF2B5EF4-FFF2-40B4-BE49-F238E27FC236}">
                <a16:creationId xmlns:a16="http://schemas.microsoft.com/office/drawing/2014/main" id="{A260A480-6D9B-4212-B1FD-4E100E9CB52E}"/>
              </a:ext>
            </a:extLst>
          </p:cNvPr>
          <p:cNvSpPr>
            <a:spLocks noGrp="1"/>
          </p:cNvSpPr>
          <p:nvPr/>
        </p:nvSpPr>
        <p:spPr>
          <a:xfrm>
            <a:off x="6210300" y="1571625"/>
            <a:ext cx="2609850" cy="752475"/>
          </a:xfrm>
          <a:prstGeom prst="rect">
            <a:avLst/>
          </a:prstGeom>
          <a:noFill/>
          <a:ln w="0">
            <a:noFill/>
          </a:ln>
        </p:spPr>
        <p:txBody>
          <a:bodyPr wrap="square" lIns="0" tIns="0" rIns="0" bIns="0">
            <a:noAutofit/>
          </a:bodyPr>
          <a:lstStyle>
            <a:defPPr>
              <a:defRPr sz="3750" b="1">
                <a:solidFill>
                  <a:srgbClr val="167A91"/>
                </a:solidFill>
                <a:latin typeface="Arial"/>
                <a:ea typeface="Arial"/>
                <a:cs typeface="Arial"/>
              </a:defRPr>
            </a:defPPr>
          </a:lstStyle>
          <a:p>
            <a:pPr>
              <a:buNone/>
              <a:defRPr sz="3750" b="1">
                <a:solidFill>
                  <a:srgbClr val="167A91"/>
                </a:solidFill>
                <a:latin typeface="Arial"/>
                <a:ea typeface="Arial"/>
                <a:cs typeface="Arial"/>
              </a:defRPr>
            </a:pPr>
            <a:r>
              <a:rPr sz="3750" b="1">
                <a:solidFill>
                  <a:srgbClr val="167A91"/>
                </a:solidFill>
                <a:latin typeface="Arial"/>
                <a:ea typeface="Arial"/>
                <a:cs typeface="Arial"/>
              </a:rPr>
              <a:t>0.296°</a:t>
            </a:r>
          </a:p>
        </p:txBody>
      </p:sp>
      <p:sp>
        <p:nvSpPr>
          <p:cNvPr id="10" name="Rectangle 9">
            <a:extLst>
              <a:ext uri="{FF2B5EF4-FFF2-40B4-BE49-F238E27FC236}">
                <a16:creationId xmlns:a16="http://schemas.microsoft.com/office/drawing/2014/main" id="{9AF3C831-4639-4613-A68B-9087C6CC5188}"/>
              </a:ext>
            </a:extLst>
          </p:cNvPr>
          <p:cNvSpPr>
            <a:spLocks noGrp="1"/>
          </p:cNvSpPr>
          <p:nvPr/>
        </p:nvSpPr>
        <p:spPr>
          <a:xfrm>
            <a:off x="6210300" y="2428875"/>
            <a:ext cx="2609850" cy="57150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dirty="0">
                <a:solidFill>
                  <a:srgbClr val="172D45"/>
                </a:solidFill>
                <a:latin typeface="Arial"/>
                <a:ea typeface="Arial"/>
                <a:cs typeface="Arial"/>
              </a:rPr>
              <a:t>Mean yaw error</a:t>
            </a:r>
          </a:p>
        </p:txBody>
      </p:sp>
      <p:sp>
        <p:nvSpPr>
          <p:cNvPr id="11" name="Rectangle 10">
            <a:extLst>
              <a:ext uri="{FF2B5EF4-FFF2-40B4-BE49-F238E27FC236}">
                <a16:creationId xmlns:a16="http://schemas.microsoft.com/office/drawing/2014/main" id="{E64A6539-B732-4F27-9CF7-92B406A59D2C}"/>
              </a:ext>
            </a:extLst>
          </p:cNvPr>
          <p:cNvSpPr>
            <a:spLocks noGrp="1"/>
          </p:cNvSpPr>
          <p:nvPr/>
        </p:nvSpPr>
        <p:spPr>
          <a:xfrm>
            <a:off x="9048750" y="1571625"/>
            <a:ext cx="2609850" cy="752475"/>
          </a:xfrm>
          <a:prstGeom prst="rect">
            <a:avLst/>
          </a:prstGeom>
          <a:noFill/>
          <a:ln w="0">
            <a:noFill/>
          </a:ln>
        </p:spPr>
        <p:txBody>
          <a:bodyPr wrap="square" lIns="0" tIns="0" rIns="0" bIns="0">
            <a:noAutofit/>
          </a:bodyPr>
          <a:lstStyle>
            <a:defPPr>
              <a:defRPr sz="3750" b="1">
                <a:solidFill>
                  <a:srgbClr val="167A91"/>
                </a:solidFill>
                <a:latin typeface="Arial"/>
                <a:ea typeface="Arial"/>
                <a:cs typeface="Arial"/>
              </a:defRPr>
            </a:defPPr>
          </a:lstStyle>
          <a:p>
            <a:pPr>
              <a:buNone/>
              <a:defRPr sz="3750" b="1">
                <a:solidFill>
                  <a:srgbClr val="167A91"/>
                </a:solidFill>
                <a:latin typeface="Arial"/>
                <a:ea typeface="Arial"/>
                <a:cs typeface="Arial"/>
              </a:defRPr>
            </a:pPr>
            <a:r>
              <a:rPr sz="3750" b="1">
                <a:solidFill>
                  <a:srgbClr val="167A91"/>
                </a:solidFill>
                <a:latin typeface="Arial"/>
                <a:ea typeface="Arial"/>
                <a:cs typeface="Arial"/>
              </a:rPr>
              <a:t>3 / 3</a:t>
            </a:r>
          </a:p>
        </p:txBody>
      </p:sp>
      <p:sp>
        <p:nvSpPr>
          <p:cNvPr id="12" name="Rectangle 11">
            <a:extLst>
              <a:ext uri="{FF2B5EF4-FFF2-40B4-BE49-F238E27FC236}">
                <a16:creationId xmlns:a16="http://schemas.microsoft.com/office/drawing/2014/main" id="{266D8B8C-19AA-436F-A7F7-64F3AEC30196}"/>
              </a:ext>
            </a:extLst>
          </p:cNvPr>
          <p:cNvSpPr>
            <a:spLocks noGrp="1"/>
          </p:cNvSpPr>
          <p:nvPr/>
        </p:nvSpPr>
        <p:spPr>
          <a:xfrm>
            <a:off x="9048750" y="2428875"/>
            <a:ext cx="2609850" cy="571500"/>
          </a:xfrm>
          <a:prstGeom prst="rect">
            <a:avLst/>
          </a:prstGeom>
          <a:noFill/>
          <a:ln w="0">
            <a:noFill/>
          </a:ln>
        </p:spPr>
        <p:txBody>
          <a:bodyPr wrap="square" lIns="0" tIns="0" rIns="0" bIns="0">
            <a:noAutofit/>
          </a:bodyPr>
          <a:lstStyle>
            <a:defPPr>
              <a:defRPr sz="1725" b="0">
                <a:solidFill>
                  <a:srgbClr val="172D45"/>
                </a:solidFill>
                <a:latin typeface="Arial"/>
                <a:ea typeface="Arial"/>
                <a:cs typeface="Arial"/>
              </a:defRPr>
            </a:defPPr>
          </a:lstStyle>
          <a:p>
            <a:pPr>
              <a:buNone/>
              <a:defRPr sz="1725" b="0">
                <a:solidFill>
                  <a:srgbClr val="172D45"/>
                </a:solidFill>
                <a:latin typeface="Arial"/>
                <a:ea typeface="Arial"/>
                <a:cs typeface="Arial"/>
              </a:defRPr>
            </a:pPr>
            <a:r>
              <a:rPr sz="1725" b="0">
                <a:solidFill>
                  <a:srgbClr val="172D45"/>
                </a:solidFill>
                <a:latin typeface="Arial"/>
                <a:ea typeface="Arial"/>
                <a:cs typeface="Arial"/>
              </a:rPr>
              <a:t>Correct refusals</a:t>
            </a:r>
          </a:p>
        </p:txBody>
      </p:sp>
      <p:pic>
        <p:nvPicPr>
          <p:cNvPr id="13" name="Picture 12">
            <a:extLst>
              <a:ext uri="{FF2B5EF4-FFF2-40B4-BE49-F238E27FC236}">
                <a16:creationId xmlns:a16="http://schemas.microsoft.com/office/drawing/2014/main" id="{7D31A1C7-A4C4-4015-A42C-4200B3ADF56B}"/>
              </a:ext>
            </a:extLst>
          </p:cNvPr>
          <p:cNvPicPr>
            <a:picLocks noChangeAspect="1"/>
          </p:cNvPicPr>
          <p:nvPr/>
        </p:nvPicPr>
        <p:blipFill>
          <a:blip r:embed="rId3"/>
          <a:stretch/>
        </p:blipFill>
        <p:spPr>
          <a:xfrm>
            <a:off x="533400" y="3352800"/>
            <a:ext cx="3429000" cy="2571750"/>
          </a:xfrm>
          <a:prstGeom prst="rect">
            <a:avLst/>
          </a:prstGeom>
        </p:spPr>
      </p:pic>
      <p:sp>
        <p:nvSpPr>
          <p:cNvPr id="14" name="Rectangle 13">
            <a:extLst>
              <a:ext uri="{FF2B5EF4-FFF2-40B4-BE49-F238E27FC236}">
                <a16:creationId xmlns:a16="http://schemas.microsoft.com/office/drawing/2014/main" id="{FE0AA416-9C6C-47DB-A56E-6CA1F005C0EF}"/>
              </a:ext>
            </a:extLst>
          </p:cNvPr>
          <p:cNvSpPr>
            <a:spLocks noGrp="1"/>
          </p:cNvSpPr>
          <p:nvPr/>
        </p:nvSpPr>
        <p:spPr>
          <a:xfrm>
            <a:off x="4762500" y="3209925"/>
            <a:ext cx="4238625" cy="342900"/>
          </a:xfrm>
          <a:prstGeom prst="rect">
            <a:avLst/>
          </a:prstGeom>
          <a:noFill/>
          <a:ln w="0">
            <a:noFill/>
          </a:ln>
        </p:spPr>
        <p:txBody>
          <a:bodyPr wrap="square" lIns="0" tIns="0" rIns="0" bIns="0">
            <a:noAutofit/>
          </a:bodyPr>
          <a:lstStyle>
            <a:defPPr>
              <a:defRPr sz="1800" b="1">
                <a:solidFill>
                  <a:srgbClr val="172D45"/>
                </a:solidFill>
                <a:latin typeface="Arial"/>
                <a:ea typeface="Arial"/>
                <a:cs typeface="Arial"/>
              </a:defRPr>
            </a:defPPr>
          </a:lstStyle>
          <a:p>
            <a:pPr>
              <a:buNone/>
              <a:defRPr sz="1800" b="1">
                <a:solidFill>
                  <a:srgbClr val="172D45"/>
                </a:solidFill>
                <a:latin typeface="Arial"/>
                <a:ea typeface="Arial"/>
                <a:cs typeface="Arial"/>
              </a:defRPr>
            </a:pPr>
            <a:r>
              <a:rPr sz="1800" b="1">
                <a:solidFill>
                  <a:srgbClr val="172D45"/>
                </a:solidFill>
                <a:latin typeface="Arial"/>
                <a:ea typeface="Arial"/>
                <a:cs typeface="Arial"/>
              </a:rPr>
              <a:t>Missing YELLOW: motion refused</a:t>
            </a:r>
          </a:p>
        </p:txBody>
      </p:sp>
      <p:pic>
        <p:nvPicPr>
          <p:cNvPr id="15" name="Picture 14">
            <a:extLst>
              <a:ext uri="{FF2B5EF4-FFF2-40B4-BE49-F238E27FC236}">
                <a16:creationId xmlns:a16="http://schemas.microsoft.com/office/drawing/2014/main" id="{10055168-F1B3-443C-B5DF-A2637D921D6A}"/>
              </a:ext>
            </a:extLst>
          </p:cNvPr>
          <p:cNvPicPr>
            <a:picLocks noChangeAspect="1"/>
          </p:cNvPicPr>
          <p:nvPr/>
        </p:nvPicPr>
        <p:blipFill>
          <a:blip r:embed="rId4"/>
          <a:stretch/>
        </p:blipFill>
        <p:spPr>
          <a:xfrm>
            <a:off x="4762500" y="3590925"/>
            <a:ext cx="3810000" cy="2032000"/>
          </a:xfrm>
          <a:prstGeom prst="rect">
            <a:avLst/>
          </a:prstGeom>
        </p:spPr>
      </p:pic>
      <p:sp>
        <p:nvSpPr>
          <p:cNvPr id="16" name="Rectangle 15">
            <a:extLst>
              <a:ext uri="{FF2B5EF4-FFF2-40B4-BE49-F238E27FC236}">
                <a16:creationId xmlns:a16="http://schemas.microsoft.com/office/drawing/2014/main" id="{4A0FF7CF-340C-4920-BFE3-BD74631A8F74}"/>
              </a:ext>
            </a:extLst>
          </p:cNvPr>
          <p:cNvSpPr>
            <a:spLocks noGrp="1"/>
          </p:cNvSpPr>
          <p:nvPr/>
        </p:nvSpPr>
        <p:spPr>
          <a:xfrm>
            <a:off x="9286875" y="3333750"/>
            <a:ext cx="2333625" cy="381000"/>
          </a:xfrm>
          <a:prstGeom prst="rect">
            <a:avLst/>
          </a:prstGeom>
          <a:noFill/>
          <a:ln w="0">
            <a:noFill/>
          </a:ln>
        </p:spPr>
        <p:txBody>
          <a:bodyPr wrap="square" lIns="0" tIns="0" rIns="0" bIns="0">
            <a:noAutofit/>
          </a:bodyPr>
          <a:lstStyle>
            <a:defPPr>
              <a:defRPr sz="2100" b="1">
                <a:solidFill>
                  <a:srgbClr val="172D45"/>
                </a:solidFill>
                <a:latin typeface="Arial"/>
                <a:ea typeface="Arial"/>
                <a:cs typeface="Arial"/>
              </a:defRPr>
            </a:defPPr>
          </a:lstStyle>
          <a:p>
            <a:pPr>
              <a:buNone/>
              <a:defRPr sz="2100" b="1">
                <a:solidFill>
                  <a:srgbClr val="172D45"/>
                </a:solidFill>
                <a:latin typeface="Arial"/>
                <a:ea typeface="Arial"/>
                <a:cs typeface="Arial"/>
              </a:defRPr>
            </a:pPr>
            <a:r>
              <a:rPr sz="2100" b="1">
                <a:solidFill>
                  <a:srgbClr val="172D45"/>
                </a:solidFill>
                <a:latin typeface="Arial"/>
                <a:ea typeface="Arial"/>
                <a:cs typeface="Arial"/>
              </a:rPr>
              <a:t>Limits</a:t>
            </a:r>
          </a:p>
        </p:txBody>
      </p:sp>
      <p:sp>
        <p:nvSpPr>
          <p:cNvPr id="17" name="Rectangle 16">
            <a:extLst>
              <a:ext uri="{FF2B5EF4-FFF2-40B4-BE49-F238E27FC236}">
                <a16:creationId xmlns:a16="http://schemas.microsoft.com/office/drawing/2014/main" id="{99284790-2030-493F-A5C2-77E498E8BEDD}"/>
              </a:ext>
            </a:extLst>
          </p:cNvPr>
          <p:cNvSpPr>
            <a:spLocks noGrp="1"/>
          </p:cNvSpPr>
          <p:nvPr/>
        </p:nvSpPr>
        <p:spPr>
          <a:xfrm>
            <a:off x="9286875" y="3933825"/>
            <a:ext cx="2371725" cy="1619250"/>
          </a:xfrm>
          <a:prstGeom prst="rect">
            <a:avLst/>
          </a:prstGeom>
          <a:noFill/>
          <a:ln w="0">
            <a:noFill/>
          </a:ln>
        </p:spPr>
        <p:txBody>
          <a:bodyPr wrap="square" lIns="0" tIns="0" rIns="0" bIns="0">
            <a:noAutofit/>
          </a:bodyPr>
          <a:lstStyle>
            <a:defPPr>
              <a:defRPr sz="1875" b="0">
                <a:solidFill>
                  <a:srgbClr val="172D45"/>
                </a:solidFill>
                <a:latin typeface="Arial"/>
                <a:ea typeface="Arial"/>
                <a:cs typeface="Arial"/>
              </a:defRPr>
            </a:defPPr>
          </a:lstStyle>
          <a:p>
            <a:pPr>
              <a:buNone/>
              <a:defRPr sz="1875" b="0">
                <a:solidFill>
                  <a:srgbClr val="172D45"/>
                </a:solidFill>
                <a:latin typeface="Arial"/>
                <a:ea typeface="Arial"/>
                <a:cs typeface="Arial"/>
              </a:defRPr>
            </a:pPr>
            <a:r>
              <a:rPr sz="1875" b="0" dirty="0">
                <a:solidFill>
                  <a:srgbClr val="172D45"/>
                </a:solidFill>
                <a:latin typeface="Arial"/>
                <a:ea typeface="Arial"/>
                <a:cs typeface="Arial"/>
              </a:rPr>
              <a:t>Fixed height</a:t>
            </a:r>
          </a:p>
          <a:p>
            <a:pPr>
              <a:buNone/>
              <a:defRPr sz="1875" b="0">
                <a:solidFill>
                  <a:srgbClr val="172D45"/>
                </a:solidFill>
                <a:latin typeface="Arial"/>
                <a:ea typeface="Arial"/>
                <a:cs typeface="Arial"/>
              </a:defRPr>
            </a:pPr>
            <a:r>
              <a:rPr sz="1875" b="0" dirty="0">
                <a:solidFill>
                  <a:srgbClr val="172D45"/>
                </a:solidFill>
                <a:latin typeface="Arial"/>
                <a:ea typeface="Arial"/>
                <a:cs typeface="Arial"/>
              </a:rPr>
              <a:t>Controlled lighting</a:t>
            </a:r>
          </a:p>
          <a:p>
            <a:pPr>
              <a:buNone/>
              <a:defRPr sz="1875" b="0">
                <a:solidFill>
                  <a:srgbClr val="172D45"/>
                </a:solidFill>
                <a:latin typeface="Arial"/>
                <a:ea typeface="Arial"/>
                <a:cs typeface="Arial"/>
              </a:defRPr>
            </a:pPr>
            <a:r>
              <a:rPr sz="1875" b="0" dirty="0">
                <a:solidFill>
                  <a:srgbClr val="172D45"/>
                </a:solidFill>
                <a:latin typeface="Arial"/>
                <a:ea typeface="Arial"/>
                <a:cs typeface="Arial"/>
              </a:rPr>
              <a:t>Occlusion</a:t>
            </a:r>
          </a:p>
          <a:p>
            <a:pPr>
              <a:buNone/>
              <a:defRPr sz="1875" b="0">
                <a:solidFill>
                  <a:srgbClr val="172D45"/>
                </a:solidFill>
                <a:latin typeface="Arial"/>
                <a:ea typeface="Arial"/>
                <a:cs typeface="Arial"/>
              </a:defRPr>
            </a:pPr>
            <a:r>
              <a:rPr sz="1875" b="0" dirty="0">
                <a:solidFill>
                  <a:srgbClr val="172D45"/>
                </a:solidFill>
                <a:latin typeface="Arial"/>
                <a:ea typeface="Arial"/>
                <a:cs typeface="Arial"/>
              </a:rPr>
              <a:t>Sampled paths</a:t>
            </a:r>
          </a:p>
        </p:txBody>
      </p:sp>
      <p:sp>
        <p:nvSpPr>
          <p:cNvPr id="18" name="Rectangle 17">
            <a:extLst>
              <a:ext uri="{FF2B5EF4-FFF2-40B4-BE49-F238E27FC236}">
                <a16:creationId xmlns:a16="http://schemas.microsoft.com/office/drawing/2014/main" id="{7B1E5040-A800-441B-9373-A84ADFBB7408}"/>
              </a:ext>
            </a:extLst>
          </p:cNvPr>
          <p:cNvSpPr>
            <a:spLocks noGrp="1"/>
          </p:cNvSpPr>
          <p:nvPr/>
        </p:nvSpPr>
        <p:spPr>
          <a:xfrm>
            <a:off x="4762500" y="5724525"/>
            <a:ext cx="6829425" cy="285750"/>
          </a:xfrm>
          <a:prstGeom prst="rect">
            <a:avLst/>
          </a:prstGeom>
          <a:noFill/>
          <a:ln w="0">
            <a:noFill/>
          </a:ln>
        </p:spPr>
        <p:txBody>
          <a:bodyPr wrap="square" lIns="0" tIns="0" rIns="0" bIns="0">
            <a:noAutofit/>
          </a:bodyPr>
          <a:lstStyle>
            <a:defPPr>
              <a:defRPr sz="1575" b="0">
                <a:solidFill>
                  <a:srgbClr val="167A91"/>
                </a:solidFill>
                <a:latin typeface="Arial"/>
                <a:ea typeface="Arial"/>
                <a:cs typeface="Arial"/>
              </a:defRPr>
            </a:defPPr>
          </a:lstStyle>
          <a:p>
            <a:pPr>
              <a:buNone/>
              <a:defRPr sz="1575" b="0">
                <a:solidFill>
                  <a:srgbClr val="167A91"/>
                </a:solidFill>
                <a:latin typeface="Arial"/>
                <a:ea typeface="Arial"/>
                <a:cs typeface="Arial"/>
              </a:defRPr>
            </a:pPr>
            <a:r>
              <a:rPr sz="1575" b="0">
                <a:solidFill>
                  <a:srgbClr val="167A91"/>
                </a:solidFill>
                <a:latin typeface="Arial"/>
                <a:ea typeface="Arial"/>
                <a:cs typeface="Arial"/>
              </a:rPr>
              <a:t>Completed test set only; no general reliability claim.</a:t>
            </a:r>
          </a:p>
        </p:txBody>
      </p:sp>
    </p:spTree>
    <p:extLst>
      <p:ext uri="{BB962C8B-B14F-4D97-AF65-F5344CB8AC3E}">
        <p14:creationId xmlns:p14="http://schemas.microsoft.com/office/powerpoint/2010/main" val="676324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16ADB9-B1D5-4A39-BF4F-96DF66D2E518}"/>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lgn="l">
              <a:defRPr sz="1125" b="0">
                <a:solidFill>
                  <a:srgbClr val="536373"/>
                </a:solidFill>
                <a:latin typeface="Arial"/>
                <a:ea typeface="Arial"/>
                <a:cs typeface="Arial"/>
              </a:defRPr>
            </a:defPPr>
          </a:lstStyle>
          <a:p>
            <a:pPr algn="l">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2" name="Rectangle 1">
            <a:extLst>
              <a:ext uri="{FF2B5EF4-FFF2-40B4-BE49-F238E27FC236}">
                <a16:creationId xmlns:a16="http://schemas.microsoft.com/office/drawing/2014/main" id="{7BA4B767-3926-40D2-8014-34E0C1AE25AF}"/>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lgn="l">
              <a:defRPr sz="1275" b="1">
                <a:solidFill>
                  <a:srgbClr val="167A91"/>
                </a:solidFill>
                <a:latin typeface="Arial"/>
                <a:ea typeface="Arial"/>
                <a:cs typeface="Arial"/>
              </a:defRPr>
            </a:defPPr>
          </a:lstStyle>
          <a:p>
            <a:pPr algn="l">
              <a:defRPr sz="1275" b="1">
                <a:solidFill>
                  <a:srgbClr val="167A91"/>
                </a:solidFill>
                <a:latin typeface="Arial"/>
                <a:ea typeface="Arial"/>
                <a:cs typeface="Arial"/>
              </a:defRPr>
            </a:pPr>
            <a:r>
              <a:rPr sz="1275" b="1">
                <a:solidFill>
                  <a:srgbClr val="167A91"/>
                </a:solidFill>
                <a:latin typeface="Arial"/>
                <a:ea typeface="Arial"/>
                <a:cs typeface="Arial"/>
              </a:rPr>
              <a:t>11</a:t>
            </a:r>
          </a:p>
        </p:txBody>
      </p:sp>
      <p:sp>
        <p:nvSpPr>
          <p:cNvPr id="3" name="Rectangle 2">
            <a:extLst>
              <a:ext uri="{FF2B5EF4-FFF2-40B4-BE49-F238E27FC236}">
                <a16:creationId xmlns:a16="http://schemas.microsoft.com/office/drawing/2014/main" id="{496C65A9-701F-4B1B-9AB6-016506165373}"/>
              </a:ext>
            </a:extLst>
          </p:cNvPr>
          <p:cNvSpPr>
            <a:spLocks noGrp="1"/>
          </p:cNvSpPr>
          <p:nvPr/>
        </p:nvSpPr>
        <p:spPr>
          <a:xfrm>
            <a:off x="533400" y="361950"/>
            <a:ext cx="11125200" cy="704850"/>
          </a:xfrm>
          <a:prstGeom prst="rect">
            <a:avLst/>
          </a:prstGeom>
          <a:noFill/>
          <a:ln w="0">
            <a:noFill/>
          </a:ln>
        </p:spPr>
        <p:txBody>
          <a:bodyPr wrap="square" lIns="0" tIns="0" rIns="0" bIns="0">
            <a:noAutofit/>
          </a:bodyPr>
          <a:lstStyle>
            <a:defPPr algn="l">
              <a:defRPr sz="3000" b="1">
                <a:solidFill>
                  <a:srgbClr val="172D45"/>
                </a:solidFill>
                <a:latin typeface="Arial"/>
                <a:ea typeface="Arial"/>
                <a:cs typeface="Arial"/>
              </a:defRPr>
            </a:defPPr>
          </a:lstStyle>
          <a:p>
            <a:pPr algn="l">
              <a:defRPr sz="3000" b="1">
                <a:solidFill>
                  <a:srgbClr val="172D45"/>
                </a:solidFill>
                <a:latin typeface="Arial"/>
                <a:ea typeface="Arial"/>
                <a:cs typeface="Arial"/>
              </a:defRPr>
            </a:pPr>
            <a:r>
              <a:rPr sz="3000" b="1">
                <a:solidFill>
                  <a:srgbClr val="172D45"/>
                </a:solidFill>
                <a:latin typeface="Arial"/>
                <a:ea typeface="Arial"/>
                <a:cs typeface="Arial"/>
              </a:rPr>
              <a:t>Live Demo: Vision-Guided Pick and Place</a:t>
            </a:r>
          </a:p>
        </p:txBody>
      </p:sp>
      <p:sp>
        <p:nvSpPr>
          <p:cNvPr id="4" name="Rectangle 3">
            <a:extLst>
              <a:ext uri="{FF2B5EF4-FFF2-40B4-BE49-F238E27FC236}">
                <a16:creationId xmlns:a16="http://schemas.microsoft.com/office/drawing/2014/main" id="{19E9D670-E9BB-4655-8FF4-B60F6259B220}"/>
              </a:ext>
            </a:extLst>
          </p:cNvPr>
          <p:cNvSpPr>
            <a:spLocks noGrp="1"/>
          </p:cNvSpPr>
          <p:nvPr/>
        </p:nvSpPr>
        <p:spPr>
          <a:xfrm>
            <a:off x="533400" y="1190625"/>
            <a:ext cx="11125200" cy="19050"/>
          </a:xfrm>
          <a:prstGeom prst="rect">
            <a:avLst/>
          </a:prstGeom>
          <a:solidFill>
            <a:srgbClr val="D8E1E8"/>
          </a:solidFill>
          <a:ln w="9525">
            <a:solidFill>
              <a:srgbClr val="D8E1E8"/>
            </a:solidFill>
          </a:ln>
        </p:spPr>
      </p:sp>
      <p:sp>
        <p:nvSpPr>
          <p:cNvPr id="5" name="Rectangle 4">
            <a:extLst>
              <a:ext uri="{FF2B5EF4-FFF2-40B4-BE49-F238E27FC236}">
                <a16:creationId xmlns:a16="http://schemas.microsoft.com/office/drawing/2014/main" id="{2A88CAA4-8E8C-4EE9-A9DF-1077D85C543D}"/>
              </a:ext>
            </a:extLst>
          </p:cNvPr>
          <p:cNvSpPr>
            <a:spLocks noGrp="1"/>
          </p:cNvSpPr>
          <p:nvPr/>
        </p:nvSpPr>
        <p:spPr>
          <a:xfrm>
            <a:off x="533400" y="1409700"/>
            <a:ext cx="11125200" cy="361950"/>
          </a:xfrm>
          <a:prstGeom prst="rect">
            <a:avLst/>
          </a:prstGeom>
          <a:noFill/>
          <a:ln w="0">
            <a:noFill/>
          </a:ln>
        </p:spPr>
        <p:txBody>
          <a:bodyPr wrap="square" lIns="0" tIns="0" rIns="0" bIns="0">
            <a:noAutofit/>
          </a:bodyPr>
          <a:lstStyle>
            <a:defPPr algn="l">
              <a:defRPr sz="1875" b="0">
                <a:solidFill>
                  <a:srgbClr val="536373"/>
                </a:solidFill>
                <a:latin typeface="Arial"/>
                <a:ea typeface="Arial"/>
                <a:cs typeface="Arial"/>
              </a:defRPr>
            </a:defPPr>
          </a:lstStyle>
          <a:p>
            <a:pPr algn="l">
              <a:defRPr sz="1875" b="0">
                <a:solidFill>
                  <a:srgbClr val="536373"/>
                </a:solidFill>
                <a:latin typeface="Arial"/>
                <a:ea typeface="Arial"/>
                <a:cs typeface="Arial"/>
              </a:defRPr>
            </a:pPr>
            <a:r>
              <a:rPr sz="1875" b="0">
                <a:solidFill>
                  <a:srgbClr val="536373"/>
                </a:solidFill>
                <a:latin typeface="Arial"/>
                <a:ea typeface="Arial"/>
                <a:cs typeface="Arial"/>
              </a:rPr>
              <a:t>Recording of the completed MuJoCo simulation</a:t>
            </a:r>
          </a:p>
        </p:txBody>
      </p:sp>
      <p:pic>
        <p:nvPicPr>
          <p:cNvPr id="6" name="Actual MuJoCo Demo - embedded video">
            <a:extLst>
              <a:ext uri="{FF2B5EF4-FFF2-40B4-BE49-F238E27FC236}">
                <a16:creationId xmlns:a16="http://schemas.microsoft.com/office/drawing/2014/main" id="{4FC791E2-F0FF-47B1-BC9E-7C4D0E3F770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2190750" y="1895475"/>
            <a:ext cx="7810500" cy="4165600"/>
          </a:xfrm>
          <a:prstGeom prst="rect">
            <a:avLst/>
          </a:prstGeom>
        </p:spPr>
      </p:pic>
      <p:sp>
        <p:nvSpPr>
          <p:cNvPr id="7" name="Rectangle 6">
            <a:extLst>
              <a:ext uri="{FF2B5EF4-FFF2-40B4-BE49-F238E27FC236}">
                <a16:creationId xmlns:a16="http://schemas.microsoft.com/office/drawing/2014/main" id="{A92A8862-3673-452E-BD4F-94EE43EB488E}"/>
              </a:ext>
            </a:extLst>
          </p:cNvPr>
          <p:cNvSpPr>
            <a:spLocks noGrp="1"/>
          </p:cNvSpPr>
          <p:nvPr/>
        </p:nvSpPr>
        <p:spPr>
          <a:xfrm>
            <a:off x="533400" y="6105525"/>
            <a:ext cx="11125200" cy="333375"/>
          </a:xfrm>
          <a:prstGeom prst="rect">
            <a:avLst/>
          </a:prstGeom>
          <a:noFill/>
          <a:ln w="0">
            <a:noFill/>
          </a:ln>
        </p:spPr>
        <p:txBody>
          <a:bodyPr wrap="square" lIns="0" tIns="0" rIns="0" bIns="0">
            <a:noAutofit/>
          </a:bodyPr>
          <a:lstStyle>
            <a:defPPr algn="ctr">
              <a:defRPr sz="1950" b="1">
                <a:solidFill>
                  <a:srgbClr val="167A91"/>
                </a:solidFill>
                <a:latin typeface="Arial"/>
                <a:ea typeface="Arial"/>
                <a:cs typeface="Arial"/>
              </a:defRPr>
            </a:defPPr>
          </a:lstStyle>
          <a:p>
            <a:pPr algn="ctr">
              <a:defRPr sz="1950" b="1">
                <a:solidFill>
                  <a:srgbClr val="167A91"/>
                </a:solidFill>
                <a:latin typeface="Arial"/>
                <a:ea typeface="Arial"/>
                <a:cs typeface="Arial"/>
              </a:defRPr>
            </a:pPr>
            <a:r>
              <a:rPr sz="1950" b="1">
                <a:solidFill>
                  <a:srgbClr val="167A91"/>
                </a:solidFill>
                <a:latin typeface="Arial"/>
                <a:ea typeface="Arial"/>
                <a:cs typeface="Arial"/>
              </a:rPr>
              <a:t>Click the video to play in PowerPoint</a:t>
            </a:r>
          </a:p>
        </p:txBody>
      </p:sp>
    </p:spTree>
    <p:extLst>
      <p:ext uri="{BB962C8B-B14F-4D97-AF65-F5344CB8AC3E}">
        <p14:creationId xmlns:p14="http://schemas.microsoft.com/office/powerpoint/2010/main" val="30536613"/>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par>
              <p:cTn id="3" restart="whenNotActive" fill="hold" nodeType="interactiveSeq">
                <p:stCondLst>
                  <p:cond evt="onClick" delay="0">
                    <p:tgtEl>
                      <p:spTgt spid="6"/>
                    </p:tgtEl>
                  </p:cond>
                </p:stCondLst>
                <p:childTnLst>
                  <p:cmd type="call" cmd="play">
                    <p:cBhvr>
                      <p:cTn id="4" dur="1" fill="hold"/>
                      <p:tgtEl>
                        <p:spTgt spid="6"/>
                      </p:tgtEl>
                    </p:cBhvr>
                  </p:cmd>
                </p:childTnLst>
              </p:cTn>
            </p:par>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5F945F0-3EE2-4694-AE32-1945F0F39E79}"/>
              </a:ext>
            </a:extLst>
          </p:cNvPr>
          <p:cNvSpPr>
            <a:spLocks noGrp="1"/>
          </p:cNvSpPr>
          <p:nvPr/>
        </p:nvSpPr>
        <p:spPr>
          <a:xfrm>
            <a:off x="533400" y="6496050"/>
            <a:ext cx="10096500" cy="190500"/>
          </a:xfrm>
          <a:prstGeom prst="rect">
            <a:avLst/>
          </a:prstGeom>
          <a:noFill/>
          <a:ln w="0">
            <a:noFill/>
          </a:ln>
        </p:spPr>
        <p:txBody>
          <a:bodyPr wrap="square" lIns="0" tIns="0" rIns="0" bIns="0">
            <a:noAutofit/>
          </a:bodyPr>
          <a:lstStyle>
            <a:defPPr algn="l">
              <a:defRPr sz="1125" b="0">
                <a:solidFill>
                  <a:srgbClr val="536373"/>
                </a:solidFill>
                <a:latin typeface="Arial"/>
                <a:ea typeface="Arial"/>
                <a:cs typeface="Arial"/>
              </a:defRPr>
            </a:defPPr>
          </a:lstStyle>
          <a:p>
            <a:pPr algn="l">
              <a:defRPr sz="1125" b="0">
                <a:solidFill>
                  <a:srgbClr val="536373"/>
                </a:solidFill>
                <a:latin typeface="Arial"/>
                <a:ea typeface="Arial"/>
                <a:cs typeface="Arial"/>
              </a:defRPr>
            </a:pPr>
            <a:r>
              <a:rPr sz="1125" b="0">
                <a:solidFill>
                  <a:srgbClr val="536373"/>
                </a:solidFill>
                <a:latin typeface="Arial"/>
                <a:ea typeface="Arial"/>
                <a:cs typeface="Arial"/>
              </a:rPr>
              <a:t>MuJoCo Vision-Guided Multi-Object Pick-and-Place</a:t>
            </a:r>
          </a:p>
        </p:txBody>
      </p:sp>
      <p:sp>
        <p:nvSpPr>
          <p:cNvPr id="2" name="Rectangle 1">
            <a:extLst>
              <a:ext uri="{FF2B5EF4-FFF2-40B4-BE49-F238E27FC236}">
                <a16:creationId xmlns:a16="http://schemas.microsoft.com/office/drawing/2014/main" id="{20D12F28-EDB0-462A-BCD0-1789A2C3ECB2}"/>
              </a:ext>
            </a:extLst>
          </p:cNvPr>
          <p:cNvSpPr>
            <a:spLocks noGrp="1"/>
          </p:cNvSpPr>
          <p:nvPr/>
        </p:nvSpPr>
        <p:spPr>
          <a:xfrm>
            <a:off x="11144250" y="6477000"/>
            <a:ext cx="514350" cy="219075"/>
          </a:xfrm>
          <a:prstGeom prst="rect">
            <a:avLst/>
          </a:prstGeom>
          <a:noFill/>
          <a:ln w="0">
            <a:noFill/>
          </a:ln>
        </p:spPr>
        <p:txBody>
          <a:bodyPr wrap="square" lIns="0" tIns="0" rIns="0" bIns="0">
            <a:noAutofit/>
          </a:bodyPr>
          <a:lstStyle>
            <a:defPPr algn="l">
              <a:defRPr sz="1275" b="1">
                <a:solidFill>
                  <a:srgbClr val="167A91"/>
                </a:solidFill>
                <a:latin typeface="Arial"/>
                <a:ea typeface="Arial"/>
                <a:cs typeface="Arial"/>
              </a:defRPr>
            </a:defPPr>
          </a:lstStyle>
          <a:p>
            <a:pPr algn="l">
              <a:defRPr sz="1275" b="1">
                <a:solidFill>
                  <a:srgbClr val="167A91"/>
                </a:solidFill>
                <a:latin typeface="Arial"/>
                <a:ea typeface="Arial"/>
                <a:cs typeface="Arial"/>
              </a:defRPr>
            </a:pPr>
            <a:r>
              <a:rPr sz="1275" b="1">
                <a:solidFill>
                  <a:srgbClr val="167A91"/>
                </a:solidFill>
                <a:latin typeface="Arial"/>
                <a:ea typeface="Arial"/>
                <a:cs typeface="Arial"/>
              </a:rPr>
              <a:t>12</a:t>
            </a:r>
          </a:p>
        </p:txBody>
      </p:sp>
      <p:sp>
        <p:nvSpPr>
          <p:cNvPr id="3" name="Rectangle 2">
            <a:extLst>
              <a:ext uri="{FF2B5EF4-FFF2-40B4-BE49-F238E27FC236}">
                <a16:creationId xmlns:a16="http://schemas.microsoft.com/office/drawing/2014/main" id="{36295C9E-62C7-4812-AF9A-60872A31C924}"/>
              </a:ext>
            </a:extLst>
          </p:cNvPr>
          <p:cNvSpPr>
            <a:spLocks noGrp="1"/>
          </p:cNvSpPr>
          <p:nvPr/>
        </p:nvSpPr>
        <p:spPr>
          <a:xfrm>
            <a:off x="533400" y="2409825"/>
            <a:ext cx="11125200" cy="971550"/>
          </a:xfrm>
          <a:prstGeom prst="rect">
            <a:avLst/>
          </a:prstGeom>
          <a:noFill/>
          <a:ln w="0">
            <a:noFill/>
          </a:ln>
        </p:spPr>
        <p:txBody>
          <a:bodyPr wrap="square" lIns="0" tIns="0" rIns="0" bIns="0">
            <a:noAutofit/>
          </a:bodyPr>
          <a:lstStyle>
            <a:defPPr algn="ctr">
              <a:defRPr sz="5400" b="1">
                <a:solidFill>
                  <a:srgbClr val="172D45"/>
                </a:solidFill>
                <a:latin typeface="Arial"/>
                <a:ea typeface="Arial"/>
                <a:cs typeface="Arial"/>
              </a:defRPr>
            </a:defPPr>
          </a:lstStyle>
          <a:p>
            <a:pPr algn="ctr">
              <a:defRPr sz="5400" b="1">
                <a:solidFill>
                  <a:srgbClr val="172D45"/>
                </a:solidFill>
                <a:latin typeface="Arial"/>
                <a:ea typeface="Arial"/>
                <a:cs typeface="Arial"/>
              </a:defRPr>
            </a:pPr>
            <a:r>
              <a:rPr sz="5400" b="1">
                <a:solidFill>
                  <a:srgbClr val="172D45"/>
                </a:solidFill>
                <a:latin typeface="Arial"/>
                <a:ea typeface="Arial"/>
                <a:cs typeface="Arial"/>
              </a:rPr>
              <a:t>Thank you</a:t>
            </a:r>
          </a:p>
        </p:txBody>
      </p:sp>
      <p:sp>
        <p:nvSpPr>
          <p:cNvPr id="4" name="Rectangle 3">
            <a:extLst>
              <a:ext uri="{FF2B5EF4-FFF2-40B4-BE49-F238E27FC236}">
                <a16:creationId xmlns:a16="http://schemas.microsoft.com/office/drawing/2014/main" id="{16C073F9-8393-4CB2-A356-98193CFC309F}"/>
              </a:ext>
            </a:extLst>
          </p:cNvPr>
          <p:cNvSpPr>
            <a:spLocks noGrp="1"/>
          </p:cNvSpPr>
          <p:nvPr/>
        </p:nvSpPr>
        <p:spPr>
          <a:xfrm>
            <a:off x="533400" y="3571875"/>
            <a:ext cx="11125200" cy="590550"/>
          </a:xfrm>
          <a:prstGeom prst="rect">
            <a:avLst/>
          </a:prstGeom>
          <a:noFill/>
          <a:ln w="0">
            <a:noFill/>
          </a:ln>
        </p:spPr>
        <p:txBody>
          <a:bodyPr wrap="square" lIns="0" tIns="0" rIns="0" bIns="0">
            <a:noAutofit/>
          </a:bodyPr>
          <a:lstStyle>
            <a:defPPr algn="ctr">
              <a:defRPr sz="2700" b="0">
                <a:solidFill>
                  <a:srgbClr val="167A91"/>
                </a:solidFill>
                <a:latin typeface="Arial"/>
                <a:ea typeface="Arial"/>
                <a:cs typeface="Arial"/>
              </a:defRPr>
            </a:defPPr>
          </a:lstStyle>
          <a:p>
            <a:pPr algn="ctr">
              <a:defRPr sz="2700" b="0">
                <a:solidFill>
                  <a:srgbClr val="167A91"/>
                </a:solidFill>
                <a:latin typeface="Arial"/>
                <a:ea typeface="Arial"/>
                <a:cs typeface="Arial"/>
              </a:defRPr>
            </a:pPr>
            <a:r>
              <a:rPr sz="2700" b="0">
                <a:solidFill>
                  <a:srgbClr val="167A91"/>
                </a:solidFill>
                <a:latin typeface="Arial"/>
                <a:ea typeface="Arial"/>
                <a:cs typeface="Arial"/>
              </a:rPr>
              <a:t>Feel free to ask questions.</a:t>
            </a:r>
          </a:p>
        </p:txBody>
      </p:sp>
    </p:spTree>
    <p:extLst>
      <p:ext uri="{BB962C8B-B14F-4D97-AF65-F5344CB8AC3E}">
        <p14:creationId xmlns:p14="http://schemas.microsoft.com/office/powerpoint/2010/main" val="6142639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3099</Words>
  <Application>Microsoft Office PowerPoint</Application>
  <DocSecurity>0</DocSecurity>
  <PresentationFormat>Widescreen</PresentationFormat>
  <Paragraphs>282</Paragraphs>
  <Slides>12</Slides>
  <Notes>12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MAHESH REDDY GONTU</cp:lastModifiedBy>
  <cp:revision>1</cp:revision>
  <dcterms:created xsi:type="dcterms:W3CDTF">2026-10-04T12:44:50Z</dcterms:created>
  <dcterms:modified xsi:type="dcterms:W3CDTF">2026-10-04T18:08:31Z</dcterms:modified>
</cp:coreProperties>
</file>